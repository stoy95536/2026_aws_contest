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5"/>
    <p:sldId id="258" r:id="rId4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市場流通卡數趨勢（萬張）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流通卡數（萬張）</c:v>
                </c:pt>
              </c:strCache>
            </c:strRef>
          </c:tx>
          <c:spPr>
            <a:ln w="31750">
              <a:solidFill>
                <a:srgbClr val="003366"/>
              </a:solidFill>
            </a:ln>
          </c:spPr>
          <c:cat>
            <c:strRef>
              <c:f>Sheet1!$A$2:$A$13</c:f>
              <c:strCache>
                <c:ptCount val="12"/>
                <c:pt idx="0">
                  <c:v>01月</c:v>
                </c:pt>
                <c:pt idx="1">
                  <c:v>02月</c:v>
                </c:pt>
                <c:pt idx="2">
                  <c:v>03月</c:v>
                </c:pt>
                <c:pt idx="3">
                  <c:v>04月</c:v>
                </c:pt>
                <c:pt idx="4">
                  <c:v>05月</c:v>
                </c:pt>
                <c:pt idx="5">
                  <c:v>06月</c:v>
                </c:pt>
                <c:pt idx="6">
                  <c:v>07月</c:v>
                </c:pt>
                <c:pt idx="7">
                  <c:v>08月</c:v>
                </c:pt>
                <c:pt idx="8">
                  <c:v>09月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5865.4745</c:v>
                </c:pt>
                <c:pt idx="1">
                  <c:v>5874.7562</c:v>
                </c:pt>
                <c:pt idx="2">
                  <c:v>5899.4262</c:v>
                </c:pt>
                <c:pt idx="3">
                  <c:v>5938.8667</c:v>
                </c:pt>
                <c:pt idx="4">
                  <c:v>5979.5907</c:v>
                </c:pt>
                <c:pt idx="5">
                  <c:v>5986.9255</c:v>
                </c:pt>
                <c:pt idx="6">
                  <c:v>5994.7219</c:v>
                </c:pt>
                <c:pt idx="7">
                  <c:v>6014.9284</c:v>
                </c:pt>
                <c:pt idx="8">
                  <c:v>6035.4497</c:v>
                </c:pt>
                <c:pt idx="9">
                  <c:v>6047.9206</c:v>
                </c:pt>
                <c:pt idx="10">
                  <c:v>6042.4521</c:v>
                </c:pt>
                <c:pt idx="11">
                  <c:v>6048.5911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流通卡數 (萬張)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流通卡數市佔率排名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市佔率(%)</c:v>
                </c:pt>
              </c:strCache>
            </c:strRef>
          </c:tx>
          <c:spPr>
            <a:solidFill>
              <a:srgbClr val="003366"/>
            </a:solidFill>
          </c:spPr>
          <c:dPt>
            <c:idx val="0"/>
            <c:spPr>
              <a:solidFill>
                <a:srgbClr val="FFCC00"/>
              </a:solidFill>
            </c:spPr>
          </c:dPt>
          <c:dPt>
            <c:idx val="4"/>
            <c:spPr>
              <a:solidFill>
                <a:srgbClr val="003366"/>
              </a:solidFill>
            </c:spPr>
          </c:dPt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玉山商業銀行</c:v>
                </c:pt>
                <c:pt idx="2">
                  <c:v>台北富邦商業銀行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15.37</c:v>
                </c:pt>
                <c:pt idx="1">
                  <c:v>14.04</c:v>
                </c:pt>
                <c:pt idx="2">
                  <c:v>12.41</c:v>
                </c:pt>
                <c:pt idx="3">
                  <c:v>12.3</c:v>
                </c:pt>
                <c:pt idx="4">
                  <c:v>11.07</c:v>
                </c:pt>
                <c:pt idx="5">
                  <c:v>5.54</c:v>
                </c:pt>
                <c:pt idx="6">
                  <c:v>4.6</c:v>
                </c:pt>
                <c:pt idx="7">
                  <c:v>4.02</c:v>
                </c:pt>
                <c:pt idx="8">
                  <c:v>2.52</c:v>
                </c:pt>
                <c:pt idx="9">
                  <c:v>2.23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市佔率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規模 vs 月增率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銀行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945.8</c:v>
                </c:pt>
                <c:pt idx="1">
                  <c:v>874.8</c:v>
                </c:pt>
                <c:pt idx="2">
                  <c:v>739.1</c:v>
                </c:pt>
                <c:pt idx="3">
                  <c:v>733.7</c:v>
                </c:pt>
                <c:pt idx="4">
                  <c:v>663.3</c:v>
                </c:pt>
                <c:pt idx="5">
                  <c:v>332.5</c:v>
                </c:pt>
                <c:pt idx="6">
                  <c:v>273.2</c:v>
                </c:pt>
                <c:pt idx="7">
                  <c:v>247.9</c:v>
                </c:pt>
                <c:pt idx="8">
                  <c:v>153.1</c:v>
                </c:pt>
                <c:pt idx="9">
                  <c:v>129.0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0.58</c:v>
                </c:pt>
                <c:pt idx="1">
                  <c:v>0.48</c:v>
                </c:pt>
                <c:pt idx="2">
                  <c:v>0.3</c:v>
                </c:pt>
                <c:pt idx="3">
                  <c:v>-0.56</c:v>
                </c:pt>
                <c:pt idx="4">
                  <c:v>-0.0</c:v>
                </c:pt>
                <c:pt idx="5">
                  <c:v>-0.94</c:v>
                </c:pt>
                <c:pt idx="6">
                  <c:v>0.27</c:v>
                </c:pt>
                <c:pt idx="7">
                  <c:v>0.42</c:v>
                </c:pt>
                <c:pt idx="8">
                  <c:v>0.15</c:v>
                </c:pt>
                <c:pt idx="9">
                  <c:v>-0.19</c:v>
                </c:pt>
              </c:numCache>
            </c:numRef>
          </c:yVal>
          <c:smooth val="0"/>
          <c:dLbls>
            <c:dLbl>
              <c:idx val="0"/>
              <c:dLblPos val="t"/>
              <c:tx>
                <c:rich>
                  <a:bodyPr/>
                  <a:lstStyle/>
                  <a:p>
                    <a:r>
                      <a:rPr lang="zh-TW" sz="1000"/>
                      <a:t>中國信託商業銀行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1"/>
              <c:dLblPos val="t"/>
              <c:tx>
                <c:rich>
                  <a:bodyPr/>
                  <a:lstStyle/>
                  <a:p>
                    <a:r>
                      <a:rPr lang="zh-TW" sz="1000"/>
                      <a:t>玉山商業銀行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2"/>
              <c:dLblPos val="t"/>
              <c:tx>
                <c:rich>
                  <a:bodyPr/>
                  <a:lstStyle/>
                  <a:p>
                    <a:r>
                      <a:rPr lang="zh-TW" sz="1000"/>
                      <a:t>台北富邦商業銀行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3"/>
              <c:dLblPos val="t"/>
              <c:tx>
                <c:rich>
                  <a:bodyPr/>
                  <a:lstStyle/>
                  <a:p>
                    <a:r>
                      <a:rPr lang="zh-TW" sz="1000"/>
                      <a:t>國泰世華商業銀行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4"/>
              <c:dLblPos val="t"/>
              <c:tx>
                <c:rich>
                  <a:bodyPr/>
                  <a:lstStyle/>
                  <a:p>
                    <a:r>
                      <a:rPr lang="zh-TW" sz="1000"/>
                      <a:t>台新國際商業銀行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5"/>
              <c:dLblPos val="t"/>
              <c:tx>
                <c:rich>
                  <a:bodyPr/>
                  <a:lstStyle/>
                  <a:p>
                    <a:r>
                      <a:rPr lang="zh-TW" sz="1000"/>
                      <a:t>星展(台灣)商業銀行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6"/>
              <c:dLblPos val="t"/>
              <c:tx>
                <c:rich>
                  <a:bodyPr/>
                  <a:lstStyle/>
                  <a:p>
                    <a:r>
                      <a:rPr lang="zh-TW" sz="1000"/>
                      <a:t>聯邦商業銀行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7"/>
              <c:dLblPos val="t"/>
              <c:tx>
                <c:rich>
                  <a:bodyPr/>
                  <a:lstStyle/>
                  <a:p>
                    <a:r>
                      <a:rPr lang="zh-TW" sz="1000"/>
                      <a:t>永豐商業銀行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8"/>
              <c:dLblPos val="t"/>
              <c:tx>
                <c:rich>
                  <a:bodyPr/>
                  <a:lstStyle/>
                  <a:p>
                    <a:r>
                      <a:rPr lang="zh-TW" sz="1000"/>
                      <a:t>第一商業銀行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9"/>
              <c:dLblPos val="t"/>
              <c:tx>
                <c:rich>
                  <a:bodyPr/>
                  <a:lstStyle/>
                  <a:p>
                    <a:r>
                      <a:rPr lang="zh-TW" sz="1000"/>
                      <a:t>遠東國際商業銀行</a:t>
                    </a:r>
                  </a:p>
                </c:rich>
              </c:tx>
              <c:showVal val="0"/>
              <c:showCatName val="0"/>
              <c:showSerName val="0"/>
            </c:dLbl>
          </c:dLbls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流通卡數（萬張）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min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月增率（%）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min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當月簽帳金額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當月簽帳金額</c:v>
                </c:pt>
              </c:strCache>
            </c:strRef>
          </c:tx>
          <c:spPr>
            <a:solidFill>
              <a:srgbClr val="003366"/>
            </a:solidFill>
          </c:spPr>
          <c:dPt>
            <c:idx val="0"/>
            <c:spPr>
              <a:solidFill>
                <a:srgbClr val="FFCC00"/>
              </a:solidFill>
            </c:spPr>
          </c:dPt>
          <c:dPt>
            <c:idx val="4"/>
            <c:spPr>
              <a:solidFill>
                <a:srgbClr val="003366"/>
              </a:solidFill>
            </c:spPr>
          </c:dPt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83917586.0</c:v>
                </c:pt>
                <c:pt idx="1">
                  <c:v>81878315.0</c:v>
                </c:pt>
                <c:pt idx="2">
                  <c:v>58873591.0</c:v>
                </c:pt>
                <c:pt idx="3">
                  <c:v>54299671.0</c:v>
                </c:pt>
                <c:pt idx="4">
                  <c:v>48399932.0</c:v>
                </c:pt>
                <c:pt idx="5">
                  <c:v>23990920.0</c:v>
                </c:pt>
                <c:pt idx="6">
                  <c:v>15837909.0</c:v>
                </c:pt>
                <c:pt idx="7">
                  <c:v>15000911.0</c:v>
                </c:pt>
                <c:pt idx="8">
                  <c:v>11715342.0</c:v>
                </c:pt>
                <c:pt idx="9">
                  <c:v>7583238.0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簽帳金額 (千元)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流通卡數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spPr>
            <a:solidFill>
              <a:srgbClr val="003366"/>
            </a:solidFill>
          </c:spPr>
          <c:dPt>
            <c:idx val="0"/>
            <c:spPr>
              <a:solidFill>
                <a:srgbClr val="FFCC00"/>
              </a:solidFill>
            </c:spPr>
          </c:dPt>
          <c:dPt>
            <c:idx val="4"/>
            <c:spPr>
              <a:solidFill>
                <a:srgbClr val="003366"/>
              </a:solidFill>
            </c:spPr>
          </c:dPt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玉山商業銀行</c:v>
                </c:pt>
                <c:pt idx="2">
                  <c:v>台北富邦商業銀行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9458117.0</c:v>
                </c:pt>
                <c:pt idx="1">
                  <c:v>8748065.0</c:v>
                </c:pt>
                <c:pt idx="2">
                  <c:v>7391132.0</c:v>
                </c:pt>
                <c:pt idx="3">
                  <c:v>7337214.0</c:v>
                </c:pt>
                <c:pt idx="4">
                  <c:v>6632949.0</c:v>
                </c:pt>
                <c:pt idx="5">
                  <c:v>3324547.0</c:v>
                </c:pt>
                <c:pt idx="6">
                  <c:v>2731780.0</c:v>
                </c:pt>
                <c:pt idx="7">
                  <c:v>2478579.0</c:v>
                </c:pt>
                <c:pt idx="8">
                  <c:v>1531235.0</c:v>
                </c:pt>
                <c:pt idx="9">
                  <c:v>1290052.0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流通卡數 (張)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簽帳金額 TOP5 近 6 月趨勢（百萬元）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中國信託商業銀行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125976.593</c:v>
                </c:pt>
                <c:pt idx="1">
                  <c:v>66950.018</c:v>
                </c:pt>
                <c:pt idx="2">
                  <c:v>73733.664</c:v>
                </c:pt>
                <c:pt idx="3">
                  <c:v>80096.712</c:v>
                </c:pt>
                <c:pt idx="4">
                  <c:v>72454.17</c:v>
                </c:pt>
                <c:pt idx="5">
                  <c:v>83917.586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國泰世華商業銀行</c:v>
                </c:pt>
              </c:strCache>
            </c:strRef>
          </c:tx>
          <c:spPr>
            <a:solidFill>
              <a:srgbClr val="0066CC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101706.31</c:v>
                </c:pt>
                <c:pt idx="1">
                  <c:v>65055.781</c:v>
                </c:pt>
                <c:pt idx="2">
                  <c:v>71463.253</c:v>
                </c:pt>
                <c:pt idx="3">
                  <c:v>79077.303</c:v>
                </c:pt>
                <c:pt idx="4">
                  <c:v>69309.873</c:v>
                </c:pt>
                <c:pt idx="5">
                  <c:v>81878.315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台北富邦商業銀行</c:v>
                </c:pt>
              </c:strCache>
            </c:strRef>
          </c:tx>
          <c:spPr>
            <a:solidFill>
              <a:srgbClr val="FF6600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70997.069</c:v>
                </c:pt>
                <c:pt idx="1">
                  <c:v>47355.858</c:v>
                </c:pt>
                <c:pt idx="2">
                  <c:v>48349.084</c:v>
                </c:pt>
                <c:pt idx="3">
                  <c:v>56553.764</c:v>
                </c:pt>
                <c:pt idx="4">
                  <c:v>51145.814</c:v>
                </c:pt>
                <c:pt idx="5">
                  <c:v>58873.591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玉山商業銀行</c:v>
                </c:pt>
              </c:strCache>
            </c:strRef>
          </c:tx>
          <c:spPr>
            <a:solidFill>
              <a:srgbClr val="339933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121150.605</c:v>
                </c:pt>
                <c:pt idx="1">
                  <c:v>47848.33</c:v>
                </c:pt>
                <c:pt idx="2">
                  <c:v>51251.681</c:v>
                </c:pt>
                <c:pt idx="3">
                  <c:v>63826.907</c:v>
                </c:pt>
                <c:pt idx="4">
                  <c:v>48431.125</c:v>
                </c:pt>
                <c:pt idx="5">
                  <c:v>54299.671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台新國際商業銀行</c:v>
                </c:pt>
              </c:strCache>
            </c:strRef>
          </c:tx>
          <c:spPr>
            <a:solidFill>
              <a:srgbClr val="CC3333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63003.868</c:v>
                </c:pt>
                <c:pt idx="1">
                  <c:v>39021.829</c:v>
                </c:pt>
                <c:pt idx="2">
                  <c:v>43935.514</c:v>
                </c:pt>
                <c:pt idx="3">
                  <c:v>48769.248</c:v>
                </c:pt>
                <c:pt idx="4">
                  <c:v>43360.054</c:v>
                </c:pt>
                <c:pt idx="5">
                  <c:v>48399.932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簽帳金額 (百萬元)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【KPI 詳細數據】</a:t>
            </a:r>
          </a:p>
          <a:p>
            <a:r>
              <a:t>  • 市場流通卡數: 6049 萬張 (metric_id: market_total_cards)</a:t>
            </a:r>
          </a:p>
          <a:p>
            <a:r>
              <a:t>  • 台新流通卡數: 663 萬張 (metric_id: taishin_cards)</a:t>
            </a:r>
          </a:p>
          <a:p>
            <a:r>
              <a:t>  • 台新市佔率: 11.1% (metric_id: taishin_share)</a:t>
            </a:r>
          </a:p>
          <a:p>
            <a:r>
              <a:t>  • 台新當月簽帳金額: 48400 百萬元 (metric_id: taishin_spend)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【圖表】市場流通卡數趨勢（萬張）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【圖表】流通卡數市佔率排名 TOP10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【圖表】規模 vs 月增率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【圖表】當月簽帳金額 TOP10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【圖表】流通卡數 TOP10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【圖表】簽帳金額 TOP5 近 6 月趨勢（百萬元）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【表格】4 欄 × 10 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4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964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86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2667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580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6000" y="1440000"/>
            <a:ext cx="99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銀行信用卡市場分析與經營洞察簡報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000" y="2520000"/>
            <a:ext cx="997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114 年 1-12 月信用卡業務數據深度解析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" y="3420000"/>
            <a:ext cx="997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66CC"/>
                </a:solidFill>
              </a:defRPr>
            </a:pPr>
            <a:r>
              <a:t>台新國際商業銀行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62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01  市場整體概況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34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02  同業競爭分析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06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03  客戶活躍度與獲利能力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78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04  風險與警訊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450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05  對台新的策略建議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市場關鍵指標摘要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市場流通卡數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764000"/>
            <a:ext cx="27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6049 萬張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8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台新流通卡數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8000" y="1764000"/>
            <a:ext cx="27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663 萬張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6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台新市佔率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764000"/>
            <a:ext cx="27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11.1%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4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台新當月簽帳金額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4000" y="1764000"/>
            <a:ext cx="27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48400 百萬元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01 市場整體概況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市場規模趨勢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市場卡數與簽帳金額走勢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市占率排名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各銀行流通卡數市占率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02 同業競爭分析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規模 vs 成長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規模與成長象限分析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有效卡率比較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各銀行簽帳金額比較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03 客戶活躍度與獲利能力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每卡簽帳金額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各銀行流通卡數比較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循環信用與分期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簽帳金額逐月變化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04 風險與警訊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風險指標比較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風險指標總覽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620000"/>
          <a:ext cx="1080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銀行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流通卡數(萬張)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簽帳金額(百萬元)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市佔率(%)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中國信託商業銀行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945.8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83918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15.37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玉山商業銀行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874.8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54300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14.04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台北富邦商業銀行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739.1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58874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12.41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國泰世華商業銀行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733.7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81878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12.30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台新國際商業銀行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663.3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48400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11.07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星展(台灣)商業銀行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332.5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23991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5.54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聯邦商業銀行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273.2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15001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4.60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永豐商業銀行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247.9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15838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第一商業銀行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153.1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7583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遠東國際商業銀行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129.0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4517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2.23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Chapter 05 台新策略建議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台新信用卡業務策略建議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44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提升有效卡率至 75% 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76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根據流通卡數與簽帳金額比較，台新有提升空間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52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252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拓展高消費力客群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284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提升每卡簽帳金額以追趕同業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60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360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優化分期產品組合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392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把握分期消費趨勢，增加中間業務收入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6000" y="1800000"/>
            <a:ext cx="9972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感謝聆聽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000" y="3060000"/>
            <a:ext cx="9972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台新國際商業銀行 — 信用卡市場分析與經營洞察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資料來源：各金融機構信用卡重要資訊揭露（114年1-12月）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Noto Sans Symbols</vt:lpstr>
      <vt:lpstr>Microsoft JhengHei</vt:lpstr>
      <vt:lpstr>Arial</vt:lpstr>
      <vt:lpstr>Noto Sans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蕭宇喬</dc:creator>
  <cp:lastModifiedBy>蕭宇喬</cp:lastModifiedBy>
  <cp:revision>2</cp:revision>
  <dcterms:created xsi:type="dcterms:W3CDTF">2026-05-26T08:53:52Z</dcterms:created>
  <dcterms:modified xsi:type="dcterms:W3CDTF">2026-05-26T08:55:08Z</dcterms:modified>
</cp:coreProperties>
</file>