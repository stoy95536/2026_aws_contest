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6"/>
    <p:sldId id="257" r:id="rId5"/>
    <p:sldId id="258" r:id="rId4"/>
    <p:sldId id="259" r:id="rId3"/>
    <p:sldId id="260" r:id="rId2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90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preserve="1">
  <p:cSld name="標題投影片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形 的圖片&#10;&#10;AI 產生的內容可能不正確。">
            <a:extLst>
              <a:ext uri="{FF2B5EF4-FFF2-40B4-BE49-F238E27FC236}">
                <a16:creationId xmlns:a16="http://schemas.microsoft.com/office/drawing/2014/main" id="{026A16C4-3BD0-72DB-C8B5-239F03494B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sp>
        <p:nvSpPr>
          <p:cNvPr id="14" name="Google Shape;14;p7"/>
          <p:cNvSpPr txBox="1">
            <a:spLocks noGrp="1"/>
          </p:cNvSpPr>
          <p:nvPr>
            <p:ph type="title"/>
          </p:nvPr>
        </p:nvSpPr>
        <p:spPr>
          <a:xfrm>
            <a:off x="1114515" y="1278736"/>
            <a:ext cx="9962700" cy="7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F4F4F"/>
              </a:buClr>
              <a:buSzPts val="3000"/>
              <a:buNone/>
              <a:defRPr sz="3000" i="0">
                <a:solidFill>
                  <a:srgbClr val="4F4F4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  <p:sp>
        <p:nvSpPr>
          <p:cNvPr id="15" name="Google Shape;15;p7"/>
          <p:cNvSpPr txBox="1">
            <a:spLocks noGrp="1"/>
          </p:cNvSpPr>
          <p:nvPr>
            <p:ph type="body" idx="1"/>
          </p:nvPr>
        </p:nvSpPr>
        <p:spPr>
          <a:xfrm>
            <a:off x="1114350" y="2394796"/>
            <a:ext cx="9963300" cy="30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E171B"/>
              </a:buClr>
              <a:buSzPts val="2400"/>
              <a:buChar char="●"/>
              <a:defRPr i="0">
                <a:solidFill>
                  <a:srgbClr val="4F4F4F"/>
                </a:solidFill>
              </a:defRPr>
            </a:lvl1pPr>
            <a:lvl2pPr marL="914400" marR="0" lvl="1" indent="-355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2000"/>
              <a:buChar char="●"/>
              <a:defRPr i="0">
                <a:solidFill>
                  <a:srgbClr val="4F4F4F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800"/>
              <a:buChar char="■"/>
              <a:defRPr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800"/>
              <a:buNone/>
              <a:defRPr b="1"/>
            </a:lvl4pPr>
            <a:lvl5pPr marL="2286000" lvl="4" indent="-3238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500"/>
              <a:buChar char="•"/>
              <a:defRPr sz="1500" b="1"/>
            </a:lvl5pPr>
            <a:lvl6pPr marL="2743200" lvl="5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400"/>
              <a:buChar char="•"/>
              <a:defRPr sz="1400" b="1">
                <a:solidFill>
                  <a:srgbClr val="464444"/>
                </a:solidFill>
              </a:defRPr>
            </a:lvl6pPr>
            <a:lvl7pPr marL="3200400" lvl="6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200"/>
              <a:buChar char="•"/>
              <a:defRPr sz="1200" b="1">
                <a:solidFill>
                  <a:srgbClr val="464444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000"/>
              <a:buChar char="•"/>
              <a:defRPr sz="1000" b="1">
                <a:solidFill>
                  <a:srgbClr val="464444"/>
                </a:solidFill>
              </a:defRPr>
            </a:lvl8pPr>
            <a:lvl9pPr marL="4114800" lvl="8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800"/>
              <a:buChar char="•"/>
              <a:defRPr sz="800" b="1">
                <a:solidFill>
                  <a:srgbClr val="464444"/>
                </a:solidFill>
              </a:defRPr>
            </a:lvl9pPr>
          </a:lstStyle>
          <a:p>
            <a:endParaRPr/>
          </a:p>
        </p:txBody>
      </p:sp>
      <p:cxnSp>
        <p:nvCxnSpPr>
          <p:cNvPr id="16" name="Google Shape;16;p7"/>
          <p:cNvCxnSpPr/>
          <p:nvPr/>
        </p:nvCxnSpPr>
        <p:spPr>
          <a:xfrm>
            <a:off x="1114515" y="2056042"/>
            <a:ext cx="9962700" cy="0"/>
          </a:xfrm>
          <a:prstGeom prst="straightConnector1">
            <a:avLst/>
          </a:prstGeom>
          <a:noFill/>
          <a:ln w="19050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7" name="Google Shape;17;p7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0600" y="5618832"/>
            <a:ext cx="2830550" cy="10770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20488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標題投影片" preserve="1">
  <p:cSld name="2_標題投影片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形 的圖片&#10;&#10;AI 產生的內容可能不正確。">
            <a:extLst>
              <a:ext uri="{FF2B5EF4-FFF2-40B4-BE49-F238E27FC236}">
                <a16:creationId xmlns:a16="http://schemas.microsoft.com/office/drawing/2014/main" id="{E912A1DA-C32A-79BA-3D45-A52103A38DF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pic>
        <p:nvPicPr>
          <p:cNvPr id="19" name="Google Shape;19;p8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0600" y="5618832"/>
            <a:ext cx="2830550" cy="1077051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8"/>
          <p:cNvSpPr txBox="1">
            <a:spLocks noGrp="1"/>
          </p:cNvSpPr>
          <p:nvPr>
            <p:ph type="title"/>
          </p:nvPr>
        </p:nvSpPr>
        <p:spPr>
          <a:xfrm>
            <a:off x="1114531" y="1640061"/>
            <a:ext cx="9962700" cy="21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4F4F"/>
              </a:buClr>
              <a:buSzPts val="4400"/>
              <a:buNone/>
              <a:defRPr sz="4400" i="0">
                <a:solidFill>
                  <a:srgbClr val="4F4F4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460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標題投影片" preserve="1">
  <p:cSld name="3_標題投影片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形, 設計 的圖片&#10;&#10;AI 產生的內容可能不正確。">
            <a:extLst>
              <a:ext uri="{FF2B5EF4-FFF2-40B4-BE49-F238E27FC236}">
                <a16:creationId xmlns:a16="http://schemas.microsoft.com/office/drawing/2014/main" id="{C649EEB2-B486-967D-A023-BE167D421E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pic>
        <p:nvPicPr>
          <p:cNvPr id="22" name="Google Shape;22;p9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0600" y="5618832"/>
            <a:ext cx="2830550" cy="1077051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9"/>
          <p:cNvSpPr txBox="1">
            <a:spLocks noGrp="1"/>
          </p:cNvSpPr>
          <p:nvPr>
            <p:ph type="title"/>
          </p:nvPr>
        </p:nvSpPr>
        <p:spPr>
          <a:xfrm>
            <a:off x="1114531" y="1640061"/>
            <a:ext cx="9962700" cy="21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4F4F"/>
              </a:buClr>
              <a:buSzPts val="4400"/>
              <a:buNone/>
              <a:defRPr sz="4400" i="0">
                <a:solidFill>
                  <a:srgbClr val="4F4F4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13661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標題及內容" preserve="1">
  <p:cSld name="1_標題及內容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0"/>
          <p:cNvSpPr txBox="1">
            <a:spLocks noGrp="1"/>
          </p:cNvSpPr>
          <p:nvPr>
            <p:ph type="body" idx="1"/>
          </p:nvPr>
        </p:nvSpPr>
        <p:spPr>
          <a:xfrm>
            <a:off x="368595" y="1247553"/>
            <a:ext cx="11242500" cy="48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CC181D"/>
              </a:buClr>
              <a:buSzPts val="2400"/>
              <a:buFont typeface="Noto Sans Symbols"/>
              <a:buChar char="■"/>
              <a:defRPr sz="2400" b="1"/>
            </a:lvl1pPr>
            <a:lvl2pPr marL="914400" lvl="1" indent="-355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2000"/>
              <a:buFont typeface="Noto Sans Symbols"/>
              <a:buChar char="●"/>
              <a:defRPr sz="2000" b="1"/>
            </a:lvl2pPr>
            <a:lvl3pPr marL="1371600" lvl="2" indent="-330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1600"/>
              <a:buFont typeface="Noto Sans Symbols"/>
              <a:buChar char="●"/>
              <a:defRPr sz="1600" b="1"/>
            </a:lvl3pPr>
            <a:lvl4pPr marL="1828800" lvl="3" indent="-30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1200"/>
              <a:buFont typeface="Arial"/>
              <a:buChar char="•"/>
              <a:defRPr sz="1200" b="1"/>
            </a:lvl4pPr>
            <a:lvl5pPr marL="2286000" lvl="4" indent="-31432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1350"/>
              <a:buFont typeface="Noto Sans Symbols"/>
              <a:buChar char="●"/>
              <a:defRPr sz="1350" b="1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title"/>
          </p:nvPr>
        </p:nvSpPr>
        <p:spPr>
          <a:xfrm>
            <a:off x="349956" y="259072"/>
            <a:ext cx="11261019" cy="759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sldNum" idx="12"/>
          </p:nvPr>
        </p:nvSpPr>
        <p:spPr>
          <a:xfrm flipH="1">
            <a:off x="11397425" y="6394525"/>
            <a:ext cx="651300" cy="32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  <p:sp>
        <p:nvSpPr>
          <p:cNvPr id="28" name="Google Shape;28;p10"/>
          <p:cNvSpPr txBox="1"/>
          <p:nvPr/>
        </p:nvSpPr>
        <p:spPr>
          <a:xfrm>
            <a:off x="-2146501" y="-1235899"/>
            <a:ext cx="11261019" cy="759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3000"/>
              <a:buFont typeface="Noto Sans"/>
              <a:buNone/>
            </a:pPr>
            <a:endParaRPr sz="3000" b="1" i="0" u="none" strike="noStrike" cap="none">
              <a:solidFill>
                <a:srgbClr val="464444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29" name="Google Shape;29;p10" title="標語_中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311550" y="6534225"/>
            <a:ext cx="1071550" cy="12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10" title="金控_中_彩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6248175"/>
            <a:ext cx="1602775" cy="6098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1" name="Google Shape;31;p10"/>
          <p:cNvCxnSpPr/>
          <p:nvPr/>
        </p:nvCxnSpPr>
        <p:spPr>
          <a:xfrm>
            <a:off x="1597301" y="6445831"/>
            <a:ext cx="8341800" cy="0"/>
          </a:xfrm>
          <a:prstGeom prst="straightConnector1">
            <a:avLst/>
          </a:prstGeom>
          <a:noFill/>
          <a:ln w="19050" cap="flat" cmpd="sng">
            <a:solidFill>
              <a:srgbClr val="D70C1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Google Shape;32;p10"/>
          <p:cNvCxnSpPr/>
          <p:nvPr/>
        </p:nvCxnSpPr>
        <p:spPr>
          <a:xfrm rot="10800000">
            <a:off x="9939225" y="6445838"/>
            <a:ext cx="1446600" cy="0"/>
          </a:xfrm>
          <a:prstGeom prst="straightConnector1">
            <a:avLst/>
          </a:prstGeom>
          <a:noFill/>
          <a:ln w="19050" cap="flat" cmpd="sng">
            <a:solidFill>
              <a:srgbClr val="D8D8D8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519643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章節標題" preserve="1">
  <p:cSld name="2_章節標題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設計 的圖片&#10;&#10;AI 產生的內容可能不正確。">
            <a:extLst>
              <a:ext uri="{FF2B5EF4-FFF2-40B4-BE49-F238E27FC236}">
                <a16:creationId xmlns:a16="http://schemas.microsoft.com/office/drawing/2014/main" id="{3B5AF3D8-B199-5417-755A-9D51D04F6E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831851" y="4128475"/>
            <a:ext cx="105156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4800"/>
              <a:buNone/>
              <a:defRPr sz="4800" i="0">
                <a:solidFill>
                  <a:srgbClr val="464444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  <p:pic>
        <p:nvPicPr>
          <p:cNvPr id="35" name="Google Shape;35;p11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08100" y="688548"/>
            <a:ext cx="5575550" cy="21215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48605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D00B95-F112-B8B7-381C-1E417E4AB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7BE2AAC-90E4-D32C-C2EC-A159487F55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8B5046B-CF36-90D5-96AF-C53DBA745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F5755-7018-4945-A46B-2B4DE79FC767}" type="datetimeFigureOut">
              <a:rPr kumimoji="1" lang="zh-TW" altLang="en-US" smtClean="0"/>
              <a:t>2026/5/26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C4874EB-7423-DBD2-1C7B-424E851D8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530B08D-6B26-34AE-92D0-8D2AB1E7F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7DD83-9373-1C49-B3EB-CD40710A3CC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626679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>
            <a:spLocks noGrp="1"/>
          </p:cNvSpPr>
          <p:nvPr>
            <p:ph type="body" idx="1"/>
          </p:nvPr>
        </p:nvSpPr>
        <p:spPr>
          <a:xfrm>
            <a:off x="519290" y="1176425"/>
            <a:ext cx="11091600" cy="50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F0000"/>
              </a:buClr>
              <a:buSzPts val="2400"/>
              <a:buFont typeface="Microsoft JhengHei"/>
              <a:buChar char="■"/>
              <a:defRPr sz="24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F0000"/>
              </a:buClr>
              <a:buSzPts val="2000"/>
              <a:buFont typeface="Microsoft JhengHei"/>
              <a:buChar char="■"/>
              <a:defRPr sz="20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F0000"/>
              </a:buClr>
              <a:buSzPts val="1600"/>
              <a:buFont typeface="Microsoft JhengHei"/>
              <a:buChar char="■"/>
              <a:defRPr sz="16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64444"/>
              </a:buClr>
              <a:buSzPts val="1600"/>
              <a:buFont typeface="Microsoft JhengHei"/>
              <a:buNone/>
              <a:defRPr sz="16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4pPr>
            <a:lvl5pPr marL="2286000" marR="0" lvl="4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64444"/>
              </a:buClr>
              <a:buSzPts val="2400"/>
              <a:buFont typeface="Microsoft JhengHei"/>
              <a:buChar char="•"/>
              <a:defRPr sz="24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9pPr>
          </a:lstStyle>
          <a:p>
            <a:endParaRPr/>
          </a:p>
        </p:txBody>
      </p:sp>
      <p:sp>
        <p:nvSpPr>
          <p:cNvPr id="11" name="Google Shape;11;p6"/>
          <p:cNvSpPr txBox="1">
            <a:spLocks noGrp="1"/>
          </p:cNvSpPr>
          <p:nvPr>
            <p:ph type="title"/>
          </p:nvPr>
        </p:nvSpPr>
        <p:spPr>
          <a:xfrm>
            <a:off x="519290" y="259072"/>
            <a:ext cx="11091685" cy="759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3000"/>
              <a:buFont typeface="Microsoft JhengHei"/>
              <a:buNone/>
              <a:defRPr sz="30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9pPr>
          </a:lstStyle>
          <a:p>
            <a:endParaRPr/>
          </a:p>
        </p:txBody>
      </p:sp>
      <p:sp>
        <p:nvSpPr>
          <p:cNvPr id="12" name="Google Shape;12;p6"/>
          <p:cNvSpPr txBox="1">
            <a:spLocks noGrp="1"/>
          </p:cNvSpPr>
          <p:nvPr>
            <p:ph type="sldNum" idx="12"/>
          </p:nvPr>
        </p:nvSpPr>
        <p:spPr>
          <a:xfrm flipH="1">
            <a:off x="11397425" y="6394525"/>
            <a:ext cx="651300" cy="32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558018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6000" y="1440000"/>
            <a:ext cx="99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銀行信用卡市場分析與經營洞察簡報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6000" y="2520000"/>
            <a:ext cx="9972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33333"/>
                </a:solidFill>
              </a:defRPr>
            </a:pPr>
            <a:r>
              <a:t>114 年 1-12 月信用卡業務數據深度解析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6000" y="3420000"/>
            <a:ext cx="9972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66CC"/>
                </a:solidFill>
              </a:defRPr>
            </a:pPr>
            <a:r>
              <a:t>台新國際商業銀行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1620000"/>
            <a:ext cx="90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3366"/>
                </a:solidFill>
              </a:defRPr>
            </a:pPr>
            <a:r>
              <a:t>CHAPTER 01  市場整體概況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0" y="2340000"/>
            <a:ext cx="90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3366"/>
                </a:solidFill>
              </a:defRPr>
            </a:pPr>
            <a:r>
              <a:t>CHAPTER 02  同業競爭分析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000" y="3060000"/>
            <a:ext cx="90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3366"/>
                </a:solidFill>
              </a:defRPr>
            </a:pPr>
            <a:r>
              <a:t>CHAPTER 03  客戶活躍度與獲利能力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3780000"/>
            <a:ext cx="90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3366"/>
                </a:solidFill>
              </a:defRPr>
            </a:pPr>
            <a:r>
              <a:t>CHAPTER 04  風險與警訊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" y="4500000"/>
            <a:ext cx="90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3366"/>
                </a:solidFill>
              </a:defRPr>
            </a:pPr>
            <a:r>
              <a:t>CHAPTER 05  對台新的策略建議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市場關鍵指標摘要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440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市場流通卡數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1764000"/>
            <a:ext cx="2700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3366"/>
                </a:solidFill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3168000" y="1440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台新市占率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8000" y="1764000"/>
            <a:ext cx="2700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3366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5976000" y="1440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台新有效卡率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6000" y="1764000"/>
            <a:ext cx="2700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3366"/>
                </a:solidFill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784000" y="1440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台新每卡簽帳金額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4000" y="1764000"/>
            <a:ext cx="2700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3366"/>
                </a:solidFill>
              </a:defRPr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Chapter 01 市場整體概況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市場規模趨勢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市場卡數與簽帳金額走勢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0" y="2520000"/>
            <a:ext cx="82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999999"/>
                </a:solidFill>
              </a:defRPr>
            </a:pPr>
            <a:r>
              <a:t>[圖表區域 — 市場規模趨勢 — 流通卡數與簽帳金額]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40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3333"/>
                </a:solidFill>
              </a:defRPr>
            </a:pPr>
            <a:r>
              <a:t>◆ 市場卡數維持穩定成長，簽帳金額波動幅度相對較大，顯示消費行為有季節性影響。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5868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3333"/>
                </a:solidFill>
              </a:defRPr>
            </a:pPr>
            <a:r>
              <a:t>◆ （推測）簽帳金額的變動幅度明顯高於卡數，顯示市場競爭重點可能已由發卡規模逐步轉向卡戶活躍度。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市占率排名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各銀行市占率排名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0" y="2520000"/>
            <a:ext cx="82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999999"/>
                </a:solidFill>
              </a:defRPr>
            </a:pPr>
            <a:r>
              <a:t>[圖表區域 — 流通卡數市占率排名]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40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3333"/>
                </a:solidFill>
              </a:defRPr>
            </a:pPr>
            <a:r>
              <a:t>◆ 市場集中度維持在前五大銀行，市占率結構相對穩定。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Chapter 02 同業競爭分析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規模 vs 成長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規模與成長象限分析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0" y="2520000"/>
            <a:ext cx="82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999999"/>
                </a:solidFill>
              </a:defRPr>
            </a:pPr>
            <a:r>
              <a:t>[圖表區域 — 規模 vs 成長率散佈圖]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40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3333"/>
                </a:solidFill>
              </a:defRPr>
            </a:pPr>
            <a:r>
              <a:t>◆ （推測）規模較大的銀行成長速度趨緩，中小型銀行則展現較高的成長動能。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有效卡率比較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有效卡率同業比較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0" y="2520000"/>
            <a:ext cx="82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999999"/>
                </a:solidFill>
              </a:defRPr>
            </a:pPr>
            <a:r>
              <a:t>[圖表區域 — 有效卡率比較]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40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3333"/>
                </a:solidFill>
              </a:defRPr>
            </a:pPr>
            <a:r>
              <a:t>◆ 各銀行在該指標上存在顯著差異，反映不同的客群經營策略。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Chapter 03 客戶活躍度與獲利能力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每卡簽帳金額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每卡消費力分析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0" y="2520000"/>
            <a:ext cx="82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999999"/>
                </a:solidFill>
              </a:defRPr>
            </a:pPr>
            <a:r>
              <a:t>[圖表區域 — 平均每卡簽帳金額比較]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40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3333"/>
                </a:solidFill>
              </a:defRPr>
            </a:pPr>
            <a:r>
              <a:t>◆ 各銀行在該指標上存在顯著差異，反映不同的客群經營策略。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循環信用與分期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信用結構分析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0" y="2520000"/>
            <a:ext cx="82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999999"/>
                </a:solidFill>
              </a:defRPr>
            </a:pPr>
            <a:r>
              <a:t>[圖表區域 — 循環信用與分期付款餘額]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40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3333"/>
                </a:solidFill>
              </a:defRPr>
            </a:pPr>
            <a:r>
              <a:t>◆ （推測）分期付款餘額佔比逐漸提升，反映消費者偏好分期消費模式。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Chapter 04 風險與警訊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風險指標比較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風險指標總覽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0" y="2520000"/>
            <a:ext cx="82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999999"/>
                </a:solidFill>
              </a:defRPr>
            </a:pPr>
            <a:r>
              <a:t>[圖表區域 — 逾期率與呆帳率比較]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40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3333"/>
                </a:solidFill>
              </a:defRPr>
            </a:pPr>
            <a:r>
              <a:t>◆ 整體逾期率維持低檔，但個別銀行的風險指標須持續關注。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003366"/>
                </a:solidFill>
              </a:defRPr>
            </a:pPr>
            <a:r>
              <a:t>Chapter 05 台新策略建議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台新信用卡業務策略建議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440000"/>
            <a:ext cx="72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66CC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440000"/>
            <a:ext cx="9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3366"/>
                </a:solidFill>
              </a:defRPr>
            </a:pPr>
            <a:r>
              <a:t>提升有效卡率至市場前段水準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0000" y="1764000"/>
            <a:ext cx="9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</a:defRPr>
            </a:pPr>
            <a:r>
              <a:t>降低無效卡管理成本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520000"/>
            <a:ext cx="72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66CC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0000" y="2520000"/>
            <a:ext cx="9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3366"/>
                </a:solidFill>
              </a:defRPr>
            </a:pPr>
            <a:r>
              <a:t>拓展高消費力客群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0000" y="2844000"/>
            <a:ext cx="9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</a:defRPr>
            </a:pPr>
            <a:r>
              <a:t>提升每卡簽帳金額表現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00" y="3600000"/>
            <a:ext cx="72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66CC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0000" y="3600000"/>
            <a:ext cx="9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3366"/>
                </a:solidFill>
              </a:defRPr>
            </a:pPr>
            <a:r>
              <a:t>優化分期產品組合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0000" y="3924000"/>
            <a:ext cx="9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</a:defRPr>
            </a:pPr>
            <a:r>
              <a:t>把握分期消費趨勢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000" y="4680000"/>
            <a:ext cx="72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66CC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0000" y="4680000"/>
            <a:ext cx="9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3366"/>
                </a:solidFill>
              </a:defRPr>
            </a:pPr>
            <a:r>
              <a:t>強化風險預警機制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0000" y="5004000"/>
            <a:ext cx="9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</a:defRPr>
            </a:pPr>
            <a:r>
              <a:t>維持資產品質穩定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6000" y="1800000"/>
            <a:ext cx="9972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感謝聆聽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6000" y="3060000"/>
            <a:ext cx="99720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台新國際商業銀行 — 信用卡市場分析與經營洞察</a:t>
            </a:r>
          </a:p>
          <a:p>
            <a:pPr algn="ctr">
              <a:defRPr sz="1100">
                <a:solidFill>
                  <a:srgbClr val="666666"/>
                </a:solidFill>
              </a:defRPr>
            </a:pPr>
            <a:r>
              <a:t>資料來源：各金融機構信用卡重要資訊揭露（114年1-12月）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佈景主題">
  <a:themeElements>
    <a:clrScheme name="Office 佈景主題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</Words>
  <Application>Microsoft Office PowerPoint</Application>
  <PresentationFormat>寬螢幕</PresentationFormat>
  <Paragraphs>2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0" baseType="lpstr">
      <vt:lpstr>Noto Sans Symbols</vt:lpstr>
      <vt:lpstr>Microsoft JhengHei</vt:lpstr>
      <vt:lpstr>Arial</vt:lpstr>
      <vt:lpstr>Noto Sans</vt:lpstr>
      <vt:lpstr>1_Office 佈景主題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蕭宇喬</dc:creator>
  <cp:lastModifiedBy>蕭宇喬</cp:lastModifiedBy>
  <cp:revision>2</cp:revision>
  <dcterms:created xsi:type="dcterms:W3CDTF">2026-05-26T08:53:52Z</dcterms:created>
  <dcterms:modified xsi:type="dcterms:W3CDTF">2026-05-26T08:55:08Z</dcterms:modified>
</cp:coreProperties>
</file>