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6"/>
    <p:sldId id="257" r:id="rId5"/>
    <p:sldId id="258" r:id="rId4"/>
    <p:sldId id="259" r:id="rId2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0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市場流通卡數趨勢（萬張）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流通卡數（萬張）</c:v>
                </c:pt>
              </c:strCache>
            </c:strRef>
          </c:tx>
          <c:spPr>
            <a:ln w="31750">
              <a:solidFill>
                <a:srgbClr val="003366"/>
              </a:solidFill>
            </a:ln>
          </c:spPr>
          <c:cat>
            <c:strRef>
              <c:f>Sheet1!$A$2:$A$13</c:f>
              <c:strCache>
                <c:ptCount val="12"/>
                <c:pt idx="0">
                  <c:v>01月</c:v>
                </c:pt>
                <c:pt idx="1">
                  <c:v>02月</c:v>
                </c:pt>
                <c:pt idx="2">
                  <c:v>03月</c:v>
                </c:pt>
                <c:pt idx="3">
                  <c:v>04月</c:v>
                </c:pt>
                <c:pt idx="4">
                  <c:v>05月</c:v>
                </c:pt>
                <c:pt idx="5">
                  <c:v>06月</c:v>
                </c:pt>
                <c:pt idx="6">
                  <c:v>07月</c:v>
                </c:pt>
                <c:pt idx="7">
                  <c:v>08月</c:v>
                </c:pt>
                <c:pt idx="8">
                  <c:v>09月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5865.4745</c:v>
                </c:pt>
                <c:pt idx="1">
                  <c:v>5874.7562</c:v>
                </c:pt>
                <c:pt idx="2">
                  <c:v>5899.4262</c:v>
                </c:pt>
                <c:pt idx="3">
                  <c:v>5938.8667</c:v>
                </c:pt>
                <c:pt idx="4">
                  <c:v>5979.5907</c:v>
                </c:pt>
                <c:pt idx="5">
                  <c:v>5986.9255</c:v>
                </c:pt>
                <c:pt idx="6">
                  <c:v>5994.7219</c:v>
                </c:pt>
                <c:pt idx="7">
                  <c:v>6014.9284</c:v>
                </c:pt>
                <c:pt idx="8">
                  <c:v>6035.4497</c:v>
                </c:pt>
                <c:pt idx="9">
                  <c:v>6047.9206</c:v>
                </c:pt>
                <c:pt idx="10">
                  <c:v>6042.4521</c:v>
                </c:pt>
                <c:pt idx="11">
                  <c:v>6048.5911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流通卡數 (萬張)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流通卡數市佔率排名 TOP10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市佔率(%)</c:v>
                </c:pt>
              </c:strCache>
            </c:strRef>
          </c:tx>
          <c:spPr>
            <a:solidFill>
              <a:srgbClr val="003366"/>
            </a:solidFill>
          </c:spPr>
          <c:dPt>
            <c:idx val="0"/>
            <c:spPr>
              <a:solidFill>
                <a:srgbClr val="FFCC00"/>
              </a:solidFill>
            </c:spPr>
          </c:dPt>
          <c:dPt>
            <c:idx val="4"/>
            <c:spPr>
              <a:solidFill>
                <a:srgbClr val="003366"/>
              </a:solidFill>
            </c:spPr>
          </c:dPt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玉山商業銀行</c:v>
                </c:pt>
                <c:pt idx="2">
                  <c:v>台北富邦商業銀行</c:v>
                </c:pt>
                <c:pt idx="3">
                  <c:v>國泰世華商業銀行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聯邦商業銀行</c:v>
                </c:pt>
                <c:pt idx="7">
                  <c:v>永豐商業銀行</c:v>
                </c:pt>
                <c:pt idx="8">
                  <c:v>第一商業銀行</c:v>
                </c:pt>
                <c:pt idx="9">
                  <c:v>遠東國際商業銀行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15.37</c:v>
                </c:pt>
                <c:pt idx="1">
                  <c:v>14.04</c:v>
                </c:pt>
                <c:pt idx="2">
                  <c:v>12.41</c:v>
                </c:pt>
                <c:pt idx="3">
                  <c:v>12.3</c:v>
                </c:pt>
                <c:pt idx="4">
                  <c:v>11.07</c:v>
                </c:pt>
                <c:pt idx="5">
                  <c:v>5.54</c:v>
                </c:pt>
                <c:pt idx="6">
                  <c:v>4.6</c:v>
                </c:pt>
                <c:pt idx="7">
                  <c:v>4.02</c:v>
                </c:pt>
                <c:pt idx="8">
                  <c:v>2.52</c:v>
                </c:pt>
                <c:pt idx="9">
                  <c:v>2.23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市佔率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規模 vs 月增率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銀行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Sheet1!$A$2:$A$11</c:f>
              <c:numCache>
                <c:formatCode>General</c:formatCode>
                <c:ptCount val="10"/>
                <c:pt idx="0">
                  <c:v>945.8</c:v>
                </c:pt>
                <c:pt idx="1">
                  <c:v>874.8</c:v>
                </c:pt>
                <c:pt idx="2">
                  <c:v>739.1</c:v>
                </c:pt>
                <c:pt idx="3">
                  <c:v>733.7</c:v>
                </c:pt>
                <c:pt idx="4">
                  <c:v>663.3</c:v>
                </c:pt>
                <c:pt idx="5">
                  <c:v>332.5</c:v>
                </c:pt>
                <c:pt idx="6">
                  <c:v>273.2</c:v>
                </c:pt>
                <c:pt idx="7">
                  <c:v>247.9</c:v>
                </c:pt>
                <c:pt idx="8">
                  <c:v>153.1</c:v>
                </c:pt>
                <c:pt idx="9">
                  <c:v>129.0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0.58</c:v>
                </c:pt>
                <c:pt idx="1">
                  <c:v>0.48</c:v>
                </c:pt>
                <c:pt idx="2">
                  <c:v>0.3</c:v>
                </c:pt>
                <c:pt idx="3">
                  <c:v>-0.56</c:v>
                </c:pt>
                <c:pt idx="4">
                  <c:v>-0.0</c:v>
                </c:pt>
                <c:pt idx="5">
                  <c:v>-0.94</c:v>
                </c:pt>
                <c:pt idx="6">
                  <c:v>0.27</c:v>
                </c:pt>
                <c:pt idx="7">
                  <c:v>0.42</c:v>
                </c:pt>
                <c:pt idx="8">
                  <c:v>0.15</c:v>
                </c:pt>
                <c:pt idx="9">
                  <c:v>-0.19</c:v>
                </c:pt>
              </c:numCache>
            </c:numRef>
          </c:yVal>
          <c:smooth val="0"/>
          <c:dLbls>
            <c:dLbl>
              <c:idx val="0"/>
              <c:dLblPos val="t"/>
              <c:tx>
                <c:rich>
                  <a:bodyPr/>
                  <a:lstStyle/>
                  <a:p>
                    <a:r>
                      <a:rPr lang="zh-TW" sz="1000"/>
                      <a:t>中國信託商業銀行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1"/>
              <c:dLblPos val="t"/>
              <c:tx>
                <c:rich>
                  <a:bodyPr/>
                  <a:lstStyle/>
                  <a:p>
                    <a:r>
                      <a:rPr lang="zh-TW" sz="1000"/>
                      <a:t>玉山商業銀行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2"/>
              <c:dLblPos val="t"/>
              <c:tx>
                <c:rich>
                  <a:bodyPr/>
                  <a:lstStyle/>
                  <a:p>
                    <a:r>
                      <a:rPr lang="zh-TW" sz="1000"/>
                      <a:t>台北富邦商業銀行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3"/>
              <c:dLblPos val="t"/>
              <c:tx>
                <c:rich>
                  <a:bodyPr/>
                  <a:lstStyle/>
                  <a:p>
                    <a:r>
                      <a:rPr lang="zh-TW" sz="1000"/>
                      <a:t>國泰世華商業銀行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4"/>
              <c:dLblPos val="t"/>
              <c:tx>
                <c:rich>
                  <a:bodyPr/>
                  <a:lstStyle/>
                  <a:p>
                    <a:r>
                      <a:rPr lang="zh-TW" sz="1000"/>
                      <a:t>台新國際商業銀行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5"/>
              <c:dLblPos val="t"/>
              <c:tx>
                <c:rich>
                  <a:bodyPr/>
                  <a:lstStyle/>
                  <a:p>
                    <a:r>
                      <a:rPr lang="zh-TW" sz="1000"/>
                      <a:t>星展(台灣)商業銀行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6"/>
              <c:dLblPos val="t"/>
              <c:tx>
                <c:rich>
                  <a:bodyPr/>
                  <a:lstStyle/>
                  <a:p>
                    <a:r>
                      <a:rPr lang="zh-TW" sz="1000"/>
                      <a:t>聯邦商業銀行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7"/>
              <c:dLblPos val="t"/>
              <c:tx>
                <c:rich>
                  <a:bodyPr/>
                  <a:lstStyle/>
                  <a:p>
                    <a:r>
                      <a:rPr lang="zh-TW" sz="1000"/>
                      <a:t>永豐商業銀行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8"/>
              <c:dLblPos val="t"/>
              <c:tx>
                <c:rich>
                  <a:bodyPr/>
                  <a:lstStyle/>
                  <a:p>
                    <a:r>
                      <a:rPr lang="zh-TW" sz="1000"/>
                      <a:t>第一商業銀行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9"/>
              <c:dLblPos val="t"/>
              <c:tx>
                <c:rich>
                  <a:bodyPr/>
                  <a:lstStyle/>
                  <a:p>
                    <a:r>
                      <a:rPr lang="zh-TW" sz="1000"/>
                      <a:t>遠東國際商業銀行</a:t>
                    </a:r>
                  </a:p>
                </c:rich>
              </c:tx>
              <c:showVal val="0"/>
              <c:showCatName val="0"/>
              <c:showSerName val="0"/>
            </c:dLbl>
          </c:dLbls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流通卡數（萬張）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min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月增率（%）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8940872"/>
        <c:crosses val="min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當月簽帳金額 TOP10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當月簽帳金額</c:v>
                </c:pt>
              </c:strCache>
            </c:strRef>
          </c:tx>
          <c:spPr>
            <a:solidFill>
              <a:srgbClr val="003366"/>
            </a:solidFill>
          </c:spPr>
          <c:dPt>
            <c:idx val="0"/>
            <c:spPr>
              <a:solidFill>
                <a:srgbClr val="FFCC00"/>
              </a:solidFill>
            </c:spPr>
          </c:dPt>
          <c:dPt>
            <c:idx val="4"/>
            <c:spPr>
              <a:solidFill>
                <a:srgbClr val="003366"/>
              </a:solidFill>
            </c:spPr>
          </c:dPt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國泰世華商業銀行</c:v>
                </c:pt>
                <c:pt idx="2">
                  <c:v>台北富邦商業銀行</c:v>
                </c:pt>
                <c:pt idx="3">
                  <c:v>玉山商業銀行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永豐商業銀行</c:v>
                </c:pt>
                <c:pt idx="7">
                  <c:v>聯邦商業銀行</c:v>
                </c:pt>
                <c:pt idx="8">
                  <c:v>滙豐(台灣)商業銀行</c:v>
                </c:pt>
                <c:pt idx="9">
                  <c:v>第一商業銀行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83917586.0</c:v>
                </c:pt>
                <c:pt idx="1">
                  <c:v>81878315.0</c:v>
                </c:pt>
                <c:pt idx="2">
                  <c:v>58873591.0</c:v>
                </c:pt>
                <c:pt idx="3">
                  <c:v>54299671.0</c:v>
                </c:pt>
                <c:pt idx="4">
                  <c:v>48399932.0</c:v>
                </c:pt>
                <c:pt idx="5">
                  <c:v>23990920.0</c:v>
                </c:pt>
                <c:pt idx="6">
                  <c:v>15837909.0</c:v>
                </c:pt>
                <c:pt idx="7">
                  <c:v>15000911.0</c:v>
                </c:pt>
                <c:pt idx="8">
                  <c:v>11715342.0</c:v>
                </c:pt>
                <c:pt idx="9">
                  <c:v>7583238.0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簽帳金額 (千元)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流通卡數 TOP10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流通卡數</c:v>
                </c:pt>
              </c:strCache>
            </c:strRef>
          </c:tx>
          <c:spPr>
            <a:solidFill>
              <a:srgbClr val="003366"/>
            </a:solidFill>
          </c:spPr>
          <c:dPt>
            <c:idx val="0"/>
            <c:spPr>
              <a:solidFill>
                <a:srgbClr val="FFCC00"/>
              </a:solidFill>
            </c:spPr>
          </c:dPt>
          <c:dPt>
            <c:idx val="4"/>
            <c:spPr>
              <a:solidFill>
                <a:srgbClr val="003366"/>
              </a:solidFill>
            </c:spPr>
          </c:dPt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玉山商業銀行</c:v>
                </c:pt>
                <c:pt idx="2">
                  <c:v>台北富邦商業銀行</c:v>
                </c:pt>
                <c:pt idx="3">
                  <c:v>國泰世華商業銀行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聯邦商業銀行</c:v>
                </c:pt>
                <c:pt idx="7">
                  <c:v>永豐商業銀行</c:v>
                </c:pt>
                <c:pt idx="8">
                  <c:v>第一商業銀行</c:v>
                </c:pt>
                <c:pt idx="9">
                  <c:v>遠東國際商業銀行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9458117.0</c:v>
                </c:pt>
                <c:pt idx="1">
                  <c:v>8748065.0</c:v>
                </c:pt>
                <c:pt idx="2">
                  <c:v>7391132.0</c:v>
                </c:pt>
                <c:pt idx="3">
                  <c:v>7337214.0</c:v>
                </c:pt>
                <c:pt idx="4">
                  <c:v>6632949.0</c:v>
                </c:pt>
                <c:pt idx="5">
                  <c:v>3324547.0</c:v>
                </c:pt>
                <c:pt idx="6">
                  <c:v>2731780.0</c:v>
                </c:pt>
                <c:pt idx="7">
                  <c:v>2478579.0</c:v>
                </c:pt>
                <c:pt idx="8">
                  <c:v>1531235.0</c:v>
                </c:pt>
                <c:pt idx="9">
                  <c:v>1290052.0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流通卡數 (張)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簽帳金額 TOP5 近 6 月趨勢（百萬元）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中國信託商業銀行</c:v>
                </c:pt>
              </c:strCache>
            </c:strRef>
          </c:tx>
          <c:spPr>
            <a:solidFill>
              <a:srgbClr val="003366"/>
            </a:solidFill>
          </c:spPr>
          <c:cat>
            <c:strRef>
              <c:f>Sheet1!$A$2:$A$7</c:f>
              <c:strCache>
                <c:ptCount val="6"/>
                <c:pt idx="0">
                  <c:v>07月</c:v>
                </c:pt>
                <c:pt idx="1">
                  <c:v>08月</c:v>
                </c:pt>
                <c:pt idx="2">
                  <c:v>09月</c:v>
                </c:pt>
                <c:pt idx="3">
                  <c:v>10月</c:v>
                </c:pt>
                <c:pt idx="4">
                  <c:v>11月</c:v>
                </c:pt>
                <c:pt idx="5">
                  <c:v>12月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125976.593</c:v>
                </c:pt>
                <c:pt idx="1">
                  <c:v>66950.018</c:v>
                </c:pt>
                <c:pt idx="2">
                  <c:v>73733.664</c:v>
                </c:pt>
                <c:pt idx="3">
                  <c:v>80096.712</c:v>
                </c:pt>
                <c:pt idx="4">
                  <c:v>72454.17</c:v>
                </c:pt>
                <c:pt idx="5">
                  <c:v>83917.586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國泰世華商業銀行</c:v>
                </c:pt>
              </c:strCache>
            </c:strRef>
          </c:tx>
          <c:spPr>
            <a:solidFill>
              <a:srgbClr val="0066CC"/>
            </a:solidFill>
          </c:spPr>
          <c:cat>
            <c:strRef>
              <c:f>Sheet1!$A$2:$A$7</c:f>
              <c:strCache>
                <c:ptCount val="6"/>
                <c:pt idx="0">
                  <c:v>07月</c:v>
                </c:pt>
                <c:pt idx="1">
                  <c:v>08月</c:v>
                </c:pt>
                <c:pt idx="2">
                  <c:v>09月</c:v>
                </c:pt>
                <c:pt idx="3">
                  <c:v>10月</c:v>
                </c:pt>
                <c:pt idx="4">
                  <c:v>11月</c:v>
                </c:pt>
                <c:pt idx="5">
                  <c:v>12月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101706.31</c:v>
                </c:pt>
                <c:pt idx="1">
                  <c:v>65055.781</c:v>
                </c:pt>
                <c:pt idx="2">
                  <c:v>71463.253</c:v>
                </c:pt>
                <c:pt idx="3">
                  <c:v>79077.303</c:v>
                </c:pt>
                <c:pt idx="4">
                  <c:v>69309.873</c:v>
                </c:pt>
                <c:pt idx="5">
                  <c:v>81878.315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台北富邦商業銀行</c:v>
                </c:pt>
              </c:strCache>
            </c:strRef>
          </c:tx>
          <c:spPr>
            <a:solidFill>
              <a:srgbClr val="FF6600"/>
            </a:solidFill>
          </c:spPr>
          <c:cat>
            <c:strRef>
              <c:f>Sheet1!$A$2:$A$7</c:f>
              <c:strCache>
                <c:ptCount val="6"/>
                <c:pt idx="0">
                  <c:v>07月</c:v>
                </c:pt>
                <c:pt idx="1">
                  <c:v>08月</c:v>
                </c:pt>
                <c:pt idx="2">
                  <c:v>09月</c:v>
                </c:pt>
                <c:pt idx="3">
                  <c:v>10月</c:v>
                </c:pt>
                <c:pt idx="4">
                  <c:v>11月</c:v>
                </c:pt>
                <c:pt idx="5">
                  <c:v>12月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70997.069</c:v>
                </c:pt>
                <c:pt idx="1">
                  <c:v>47355.858</c:v>
                </c:pt>
                <c:pt idx="2">
                  <c:v>48349.084</c:v>
                </c:pt>
                <c:pt idx="3">
                  <c:v>56553.764</c:v>
                </c:pt>
                <c:pt idx="4">
                  <c:v>51145.814</c:v>
                </c:pt>
                <c:pt idx="5">
                  <c:v>58873.591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玉山商業銀行</c:v>
                </c:pt>
              </c:strCache>
            </c:strRef>
          </c:tx>
          <c:spPr>
            <a:solidFill>
              <a:srgbClr val="339933"/>
            </a:solidFill>
          </c:spPr>
          <c:cat>
            <c:strRef>
              <c:f>Sheet1!$A$2:$A$7</c:f>
              <c:strCache>
                <c:ptCount val="6"/>
                <c:pt idx="0">
                  <c:v>07月</c:v>
                </c:pt>
                <c:pt idx="1">
                  <c:v>08月</c:v>
                </c:pt>
                <c:pt idx="2">
                  <c:v>09月</c:v>
                </c:pt>
                <c:pt idx="3">
                  <c:v>10月</c:v>
                </c:pt>
                <c:pt idx="4">
                  <c:v>11月</c:v>
                </c:pt>
                <c:pt idx="5">
                  <c:v>12月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121150.605</c:v>
                </c:pt>
                <c:pt idx="1">
                  <c:v>47848.33</c:v>
                </c:pt>
                <c:pt idx="2">
                  <c:v>51251.681</c:v>
                </c:pt>
                <c:pt idx="3">
                  <c:v>63826.907</c:v>
                </c:pt>
                <c:pt idx="4">
                  <c:v>48431.125</c:v>
                </c:pt>
                <c:pt idx="5">
                  <c:v>54299.671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台新國際商業銀行</c:v>
                </c:pt>
              </c:strCache>
            </c:strRef>
          </c:tx>
          <c:spPr>
            <a:solidFill>
              <a:srgbClr val="CC3333"/>
            </a:solidFill>
          </c:spPr>
          <c:cat>
            <c:strRef>
              <c:f>Sheet1!$A$2:$A$7</c:f>
              <c:strCache>
                <c:ptCount val="6"/>
                <c:pt idx="0">
                  <c:v>07月</c:v>
                </c:pt>
                <c:pt idx="1">
                  <c:v>08月</c:v>
                </c:pt>
                <c:pt idx="2">
                  <c:v>09月</c:v>
                </c:pt>
                <c:pt idx="3">
                  <c:v>10月</c:v>
                </c:pt>
                <c:pt idx="4">
                  <c:v>11月</c:v>
                </c:pt>
                <c:pt idx="5">
                  <c:v>12月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63003.868</c:v>
                </c:pt>
                <c:pt idx="1">
                  <c:v>39021.829</c:v>
                </c:pt>
                <c:pt idx="2">
                  <c:v>43935.514</c:v>
                </c:pt>
                <c:pt idx="3">
                  <c:v>48769.248</c:v>
                </c:pt>
                <c:pt idx="4">
                  <c:v>43360.054</c:v>
                </c:pt>
                <c:pt idx="5">
                  <c:v>48399.932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簽帳金額 (百萬元)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【KPI 詳細數據】</a:t>
            </a:r>
          </a:p>
          <a:p>
            <a:r>
              <a:t>  • 市場流通卡數: 6049 萬張 (metric_id: market_total_cards)</a:t>
            </a:r>
          </a:p>
          <a:p>
            <a:r>
              <a:t>  • 台新流通卡數: 663 萬張 (metric_id: taishin_cards)</a:t>
            </a:r>
          </a:p>
          <a:p>
            <a:r>
              <a:t>  • 台新市佔率: 11.1% (metric_id: taishin_share)</a:t>
            </a:r>
          </a:p>
          <a:p>
            <a:r>
              <a:t>  • 台新當月簽帳金額: 48400 百萬元 (metric_id: taishin_spend)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【圖表】市場流通卡數趨勢（萬張）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【圖表】流通卡數市佔率排名 TOP10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【圖表】規模 vs 月增率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【圖表】當月簽帳金額 TOP10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【圖表】流通卡數 TOP10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【圖表】簽帳金額 TOP5 近 6 月趨勢（百萬元）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【表格】4 欄 × 10 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preserve="1">
  <p:cSld name="標題投影片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 的圖片&#10;&#10;AI 產生的內容可能不正確。">
            <a:extLst>
              <a:ext uri="{FF2B5EF4-FFF2-40B4-BE49-F238E27FC236}">
                <a16:creationId xmlns:a16="http://schemas.microsoft.com/office/drawing/2014/main" id="{026A16C4-3BD0-72DB-C8B5-239F03494B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4" name="Google Shape;14;p7"/>
          <p:cNvSpPr txBox="1">
            <a:spLocks noGrp="1"/>
          </p:cNvSpPr>
          <p:nvPr>
            <p:ph type="title"/>
          </p:nvPr>
        </p:nvSpPr>
        <p:spPr>
          <a:xfrm>
            <a:off x="1114515" y="1278736"/>
            <a:ext cx="9962700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3000"/>
              <a:buNone/>
              <a:defRPr sz="30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body" idx="1"/>
          </p:nvPr>
        </p:nvSpPr>
        <p:spPr>
          <a:xfrm>
            <a:off x="1114350" y="2394796"/>
            <a:ext cx="9963300" cy="30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171B"/>
              </a:buClr>
              <a:buSzPts val="2400"/>
              <a:buChar char="●"/>
              <a:defRPr i="0">
                <a:solidFill>
                  <a:srgbClr val="4F4F4F"/>
                </a:solidFill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2000"/>
              <a:buChar char="●"/>
              <a:defRPr i="0">
                <a:solidFill>
                  <a:srgbClr val="4F4F4F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800"/>
              <a:buChar char="■"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800"/>
              <a:buNone/>
              <a:defRPr b="1"/>
            </a:lvl4pPr>
            <a:lvl5pPr marL="2286000" lvl="4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500"/>
              <a:buChar char="•"/>
              <a:defRPr sz="1500" b="1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400"/>
              <a:buChar char="•"/>
              <a:defRPr sz="1400" b="1">
                <a:solidFill>
                  <a:srgbClr val="464444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200"/>
              <a:buChar char="•"/>
              <a:defRPr sz="1200" b="1">
                <a:solidFill>
                  <a:srgbClr val="464444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000"/>
              <a:buChar char="•"/>
              <a:defRPr sz="1000" b="1">
                <a:solidFill>
                  <a:srgbClr val="464444"/>
                </a:solidFill>
              </a:defRPr>
            </a:lvl8pPr>
            <a:lvl9pPr marL="4114800" lvl="8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800"/>
              <a:buChar char="•"/>
              <a:defRPr sz="800" b="1">
                <a:solidFill>
                  <a:srgbClr val="464444"/>
                </a:solidFill>
              </a:defRPr>
            </a:lvl9pPr>
          </a:lstStyle>
          <a:p>
            <a:endParaRPr/>
          </a:p>
        </p:txBody>
      </p:sp>
      <p:cxnSp>
        <p:nvCxnSpPr>
          <p:cNvPr id="16" name="Google Shape;16;p7"/>
          <p:cNvCxnSpPr/>
          <p:nvPr/>
        </p:nvCxnSpPr>
        <p:spPr>
          <a:xfrm>
            <a:off x="1114515" y="2056042"/>
            <a:ext cx="99627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" name="Google Shape;17;p7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048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標題投影片" preserve="1">
  <p:cSld name="2_標題投影片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 的圖片&#10;&#10;AI 產生的內容可能不正確。">
            <a:extLst>
              <a:ext uri="{FF2B5EF4-FFF2-40B4-BE49-F238E27FC236}">
                <a16:creationId xmlns:a16="http://schemas.microsoft.com/office/drawing/2014/main" id="{E912A1DA-C32A-79BA-3D45-A52103A38D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19" name="Google Shape;19;p8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8"/>
          <p:cNvSpPr txBox="1">
            <a:spLocks noGrp="1"/>
          </p:cNvSpPr>
          <p:nvPr>
            <p:ph type="title"/>
          </p:nvPr>
        </p:nvSpPr>
        <p:spPr>
          <a:xfrm>
            <a:off x="1114531" y="1640061"/>
            <a:ext cx="9962700" cy="21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400"/>
              <a:buNone/>
              <a:defRPr sz="44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460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標題投影片" preserve="1">
  <p:cSld name="3_標題投影片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, 設計 的圖片&#10;&#10;AI 產生的內容可能不正確。">
            <a:extLst>
              <a:ext uri="{FF2B5EF4-FFF2-40B4-BE49-F238E27FC236}">
                <a16:creationId xmlns:a16="http://schemas.microsoft.com/office/drawing/2014/main" id="{C649EEB2-B486-967D-A023-BE167D421E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22" name="Google Shape;22;p9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1114531" y="1640061"/>
            <a:ext cx="9962700" cy="21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400"/>
              <a:buNone/>
              <a:defRPr sz="44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3661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標題及內容" preserve="1">
  <p:cSld name="1_標題及內容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368595" y="1247553"/>
            <a:ext cx="11242500" cy="48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C181D"/>
              </a:buClr>
              <a:buSzPts val="2400"/>
              <a:buFont typeface="Noto Sans Symbols"/>
              <a:buChar char="■"/>
              <a:defRPr sz="2400" b="1"/>
            </a:lvl1pPr>
            <a:lvl2pPr marL="91440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2000"/>
              <a:buFont typeface="Noto Sans Symbols"/>
              <a:buChar char="●"/>
              <a:defRPr sz="2000" b="1"/>
            </a:lvl2pPr>
            <a:lvl3pPr marL="1371600" lvl="2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600"/>
              <a:buFont typeface="Noto Sans Symbols"/>
              <a:buChar char="●"/>
              <a:defRPr sz="1600" b="1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200"/>
              <a:buFont typeface="Arial"/>
              <a:buChar char="•"/>
              <a:defRPr sz="1200" b="1"/>
            </a:lvl4pPr>
            <a:lvl5pPr marL="2286000" lvl="4" indent="-3143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350"/>
              <a:buFont typeface="Noto Sans Symbols"/>
              <a:buChar char="●"/>
              <a:defRPr sz="1350" b="1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349956" y="259072"/>
            <a:ext cx="11261019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sldNum" idx="12"/>
          </p:nvPr>
        </p:nvSpPr>
        <p:spPr>
          <a:xfrm flipH="1">
            <a:off x="11397425" y="6394525"/>
            <a:ext cx="651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" name="Google Shape;28;p10"/>
          <p:cNvSpPr txBox="1"/>
          <p:nvPr/>
        </p:nvSpPr>
        <p:spPr>
          <a:xfrm>
            <a:off x="-2146501" y="-1235899"/>
            <a:ext cx="11261019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3000"/>
              <a:buFont typeface="Noto Sans"/>
              <a:buNone/>
            </a:pPr>
            <a:endParaRPr sz="3000" b="1" i="0" u="none" strike="noStrike" cap="none">
              <a:solidFill>
                <a:srgbClr val="46444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9" name="Google Shape;29;p10" title="標語_中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11550" y="6534225"/>
            <a:ext cx="1071550" cy="1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0" title="金控_中_彩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48175"/>
            <a:ext cx="1602775" cy="609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" name="Google Shape;31;p10"/>
          <p:cNvCxnSpPr/>
          <p:nvPr/>
        </p:nvCxnSpPr>
        <p:spPr>
          <a:xfrm>
            <a:off x="1597301" y="6445831"/>
            <a:ext cx="8341800" cy="0"/>
          </a:xfrm>
          <a:prstGeom prst="straightConnector1">
            <a:avLst/>
          </a:prstGeom>
          <a:noFill/>
          <a:ln w="19050" cap="flat" cmpd="sng">
            <a:solidFill>
              <a:srgbClr val="D70C1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32;p10"/>
          <p:cNvCxnSpPr/>
          <p:nvPr/>
        </p:nvCxnSpPr>
        <p:spPr>
          <a:xfrm rot="10800000">
            <a:off x="9939225" y="6445838"/>
            <a:ext cx="14466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19643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章節標題" preserve="1">
  <p:cSld name="2_章節標題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設計 的圖片&#10;&#10;AI 產生的內容可能不正確。">
            <a:extLst>
              <a:ext uri="{FF2B5EF4-FFF2-40B4-BE49-F238E27FC236}">
                <a16:creationId xmlns:a16="http://schemas.microsoft.com/office/drawing/2014/main" id="{3B5AF3D8-B199-5417-755A-9D51D04F6E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1851" y="4128475"/>
            <a:ext cx="105156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4800"/>
              <a:buNone/>
              <a:defRPr sz="4800" i="0">
                <a:solidFill>
                  <a:srgbClr val="46444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pic>
        <p:nvPicPr>
          <p:cNvPr id="35" name="Google Shape;35;p11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8100" y="688548"/>
            <a:ext cx="5575550" cy="2121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4860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00B95-F112-B8B7-381C-1E417E4AB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7BE2AAC-90E4-D32C-C2EC-A159487F5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B5046B-CF36-90D5-96AF-C53DBA74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5755-7018-4945-A46B-2B4DE79FC767}" type="datetimeFigureOut">
              <a:rPr kumimoji="1" lang="zh-TW" altLang="en-US" smtClean="0"/>
              <a:t>2026/5/26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4874EB-7423-DBD2-1C7B-424E851D8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30B08D-6B26-34AE-92D0-8D2AB1E7F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7DD83-9373-1C49-B3EB-CD40710A3CC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626679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body" idx="1"/>
          </p:nvPr>
        </p:nvSpPr>
        <p:spPr>
          <a:xfrm>
            <a:off x="519290" y="1176425"/>
            <a:ext cx="11091600" cy="5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0000"/>
              </a:buClr>
              <a:buSzPts val="2400"/>
              <a:buFont typeface="Microsoft JhengHei"/>
              <a:buChar char="■"/>
              <a:defRPr sz="24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F0000"/>
              </a:buClr>
              <a:buSzPts val="2000"/>
              <a:buFont typeface="Microsoft JhengHei"/>
              <a:buChar char="■"/>
              <a:defRPr sz="20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F0000"/>
              </a:buClr>
              <a:buSzPts val="1600"/>
              <a:buFont typeface="Microsoft JhengHei"/>
              <a:buChar char="■"/>
              <a:defRPr sz="16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64444"/>
              </a:buClr>
              <a:buSzPts val="1600"/>
              <a:buFont typeface="Microsoft JhengHei"/>
              <a:buNone/>
              <a:defRPr sz="16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64444"/>
              </a:buClr>
              <a:buSzPts val="2400"/>
              <a:buFont typeface="Microsoft JhengHei"/>
              <a:buChar char="•"/>
              <a:defRPr sz="24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519290" y="259072"/>
            <a:ext cx="11091685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3000"/>
              <a:buFont typeface="Microsoft JhengHei"/>
              <a:buNone/>
              <a:defRPr sz="30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sldNum" idx="12"/>
          </p:nvPr>
        </p:nvSpPr>
        <p:spPr>
          <a:xfrm flipH="1">
            <a:off x="11397425" y="6394525"/>
            <a:ext cx="651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55801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&#38468;&#20214;&#22235;_&#38928;&#26399;&#20462;&#27491;&#21443;&#29031;&#36039;&#26009;.xlsx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6000" y="1440000"/>
            <a:ext cx="99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銀行信用卡市場分析與經營洞察簡報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6000" y="2520000"/>
            <a:ext cx="997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114 年 1-12 月信用卡業務數據深度解析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000" y="3420000"/>
            <a:ext cx="997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66CC"/>
                </a:solidFill>
              </a:defRPr>
            </a:pPr>
            <a:r>
              <a:t>台新國際商業銀行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620000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3366"/>
                </a:solidFill>
              </a:defRPr>
            </a:pPr>
            <a:r>
              <a:t>CHAPTER 01  市場整體概況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2340000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3366"/>
                </a:solidFill>
              </a:defRPr>
            </a:pPr>
            <a:r>
              <a:t>CHAPTER 02  同業競爭分析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3060000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3366"/>
                </a:solidFill>
              </a:defRPr>
            </a:pPr>
            <a:r>
              <a:t>CHAPTER 03  客戶活躍度與獲利能力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3780000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3366"/>
                </a:solidFill>
              </a:defRPr>
            </a:pPr>
            <a:r>
              <a:t>CHAPTER 04  風險與警訊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4500000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3366"/>
                </a:solidFill>
              </a:defRPr>
            </a:pPr>
            <a:r>
              <a:t>CHAPTER 05  對台新的策略建議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市場關鍵指標摘要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440000"/>
            <a:ext cx="27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市場流通卡數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764000"/>
            <a:ext cx="27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6049 萬張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8000" y="1440000"/>
            <a:ext cx="27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台新流通卡數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8000" y="1764000"/>
            <a:ext cx="27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663 萬張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6000" y="1440000"/>
            <a:ext cx="27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台新市佔率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6000" y="1764000"/>
            <a:ext cx="27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11.1%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4000" y="1440000"/>
            <a:ext cx="27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台新當月簽帳金額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84000" y="1764000"/>
            <a:ext cx="27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48400 百萬元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Chapter 01 市場整體概況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市場規模趨勢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市場卡數與簽帳金額走勢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620000"/>
          <a:ext cx="10800000" cy="36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市占率排名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各銀行流通卡數市占率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620000"/>
          <a:ext cx="10800000" cy="36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Chapter 02 同業競爭分析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規模 vs 成長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規模與成長象限分析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620000"/>
          <a:ext cx="10800000" cy="36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有效卡率比較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各銀行簽帳金額比較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620000"/>
          <a:ext cx="10800000" cy="36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Chapter 03 客戶活躍度與獲利能力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每卡簽帳金額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各銀行流通卡數比較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620000"/>
          <a:ext cx="10800000" cy="36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循環信用與分期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簽帳金額逐月變化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620000"/>
          <a:ext cx="10800000" cy="36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Chapter 04 風險與警訊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風險指標比較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風險指標總覽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620000"/>
          <a:ext cx="10800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2700000"/>
                <a:gridCol w="2700000"/>
                <a:gridCol w="2700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銀行</a:t>
                      </a:r>
                    </a:p>
                  </a:txBody>
                  <a:tcPr anchor="ctr">
                    <a:solidFill>
                      <a:srgbClr val="00336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流通卡數(萬張)</a:t>
                      </a:r>
                    </a:p>
                  </a:txBody>
                  <a:tcPr anchor="ctr">
                    <a:solidFill>
                      <a:srgbClr val="00336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簽帳金額(百萬元)</a:t>
                      </a:r>
                    </a:p>
                  </a:txBody>
                  <a:tcPr anchor="ctr">
                    <a:solidFill>
                      <a:srgbClr val="00336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市佔率(%)</a:t>
                      </a:r>
                    </a:p>
                  </a:txBody>
                  <a:tcPr anchor="ctr">
                    <a:solidFill>
                      <a:srgbClr val="00336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中國信託商業銀行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945.8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83918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15.37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玉山商業銀行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874.8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54300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14.04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台北富邦商業銀行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739.1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58874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12.41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國泰世華商業銀行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733.7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81878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12.30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台新國際商業銀行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663.3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48400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11.07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星展(台灣)商業銀行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332.5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23991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5.54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聯邦商業銀行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273.2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15001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4.60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永豐商業銀行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247.9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15838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4.02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第一商業銀行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153.1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7583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2.52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遠東國際商業銀行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129.0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4517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2.23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Chapter 05 台新策略建議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台新信用卡業務策略建議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440000"/>
            <a:ext cx="7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440000"/>
            <a:ext cx="9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提升有效卡率至 75% 以上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1764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根據流通卡數與簽帳金額比較，台新有提升空間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520000"/>
            <a:ext cx="7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0000" y="2520000"/>
            <a:ext cx="9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拓展高消費力客群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0000" y="2844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提升每卡簽帳金額以追趕同業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3600000"/>
            <a:ext cx="7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3600000"/>
            <a:ext cx="9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優化分期產品組合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0000" y="3924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把握分期消費趨勢，增加中間業務收入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6000" y="1800000"/>
            <a:ext cx="9972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感謝聆聽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6000" y="3060000"/>
            <a:ext cx="9972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台新國際商業銀行 — 信用卡市場分析與經營洞察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資料來源：各金融機構信用卡重要資訊揭露（114年1-12月）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000" y="4320000"/>
            <a:ext cx="9972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u="sng">
                <a:solidFill>
                  <a:srgbClr val="0066CC"/>
                </a:solidFill>
                <a:hlinkClick r:id="rId2"/>
              </a:rPr>
              <a:t>📎 原始資料：附件四_預期修正參照資料.xlsx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寬螢幕</PresentationFormat>
  <Paragraphs>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Noto Sans Symbols</vt:lpstr>
      <vt:lpstr>Microsoft JhengHei</vt:lpstr>
      <vt:lpstr>Arial</vt:lpstr>
      <vt:lpstr>Noto Sans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蕭宇喬</dc:creator>
  <cp:lastModifiedBy>蕭宇喬</cp:lastModifiedBy>
  <cp:revision>2</cp:revision>
  <dcterms:created xsi:type="dcterms:W3CDTF">2026-05-26T08:53:52Z</dcterms:created>
  <dcterms:modified xsi:type="dcterms:W3CDTF">2026-05-26T08:55:08Z</dcterms:modified>
</cp:coreProperties>
</file>