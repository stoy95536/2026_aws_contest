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6"/>
    <p:sldId id="257" r:id="rId5"/>
    <p:sldId id="258" r:id="rId4"/>
    <p:sldId id="259" r:id="rId2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90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市場規模趨勢 — 流通卡數與簽帳金額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流通卡數(萬張)</c:v>
                </c:pt>
              </c:strCache>
            </c:strRef>
          </c:tx>
          <c:spPr>
            <a:solidFill>
              <a:srgbClr val="003366"/>
            </a:solidFill>
          </c:spP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5865.4745</c:v>
                </c:pt>
                <c:pt idx="1">
                  <c:v>5874.7562</c:v>
                </c:pt>
                <c:pt idx="2">
                  <c:v>5899.4262</c:v>
                </c:pt>
                <c:pt idx="3">
                  <c:v>5938.8667</c:v>
                </c:pt>
                <c:pt idx="4">
                  <c:v>5979.5907</c:v>
                </c:pt>
                <c:pt idx="5">
                  <c:v>5986.9255</c:v>
                </c:pt>
                <c:pt idx="6">
                  <c:v>5994.7219</c:v>
                </c:pt>
                <c:pt idx="7">
                  <c:v>6014.9284</c:v>
                </c:pt>
                <c:pt idx="8">
                  <c:v>6035.4497</c:v>
                </c:pt>
                <c:pt idx="9">
                  <c:v>6047.9206</c:v>
                </c:pt>
                <c:pt idx="10">
                  <c:v>6042.4521</c:v>
                </c:pt>
                <c:pt idx="11">
                  <c:v>6048.5911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  <c:lineChart>
        <c:grouping val="standard"/>
        <c:ser>
          <c:idx val="1"/>
          <c:order val="1"/>
          <c:tx>
            <c:strRef>
              <c:f>Sheet1!$C$1</c:f>
              <c:strCache>
                <c:ptCount val="1"/>
                <c:pt idx="0">
                  <c:v>簽帳金額(億元)</c:v>
                </c:pt>
              </c:strCache>
            </c:strRef>
          </c:tx>
          <c:spPr>
            <a:ln w="31750">
              <a:solidFill>
                <a:srgbClr val="0066CC"/>
              </a:solidFill>
            </a:ln>
          </c:spP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338.561389</c:v>
                </c:pt>
                <c:pt idx="1">
                  <c:v>395.294658</c:v>
                </c:pt>
                <c:pt idx="2">
                  <c:v>377.172642</c:v>
                </c:pt>
                <c:pt idx="3">
                  <c:v>373.344235</c:v>
                </c:pt>
                <c:pt idx="4">
                  <c:v>371.785303</c:v>
                </c:pt>
                <c:pt idx="5">
                  <c:v>393.715829</c:v>
                </c:pt>
                <c:pt idx="6">
                  <c:v>653.264628</c:v>
                </c:pt>
                <c:pt idx="7">
                  <c:v>376.250456</c:v>
                </c:pt>
                <c:pt idx="8">
                  <c:v>403.174279</c:v>
                </c:pt>
                <c:pt idx="9">
                  <c:v>453.412126</c:v>
                </c:pt>
                <c:pt idx="10">
                  <c:v>396.704763</c:v>
                </c:pt>
                <c:pt idx="11">
                  <c:v>453.663538</c:v>
                </c:pt>
              </c:numCache>
            </c:numRef>
          </c:val>
        </c:ser>
        <c:marker>
          <c:val>1</c:val>
        </c:marker>
        <c:axId val="-2068027336"/>
        <c:axId val="-2113994440"/>
      </c:lin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流通卡數市占率 Top 10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市占率(%)</c:v>
                </c:pt>
              </c:strCache>
            </c:strRef>
          </c:tx>
          <c:spPr>
            <a:solidFill>
              <a:srgbClr val="003366"/>
            </a:solidFill>
          </c:spPr>
          <c:dPt>
            <c:idx val="0"/>
            <c:spPr>
              <a:solidFill>
                <a:srgbClr val="FFCC00"/>
              </a:solidFill>
            </c:spPr>
          </c:dPt>
          <c:dPt>
            <c:idx val="4"/>
            <c:spPr>
              <a:solidFill>
                <a:srgbClr val="003366"/>
              </a:solidFill>
            </c:spPr>
          </c:dPt>
          <c:cat>
            <c:strRef>
              <c:f>Sheet1!$A$2:$A$11</c:f>
              <c:strCache>
                <c:ptCount val="10"/>
                <c:pt idx="0">
                  <c:v>中國信託</c:v>
                </c:pt>
                <c:pt idx="1">
                  <c:v>玉山</c:v>
                </c:pt>
                <c:pt idx="2">
                  <c:v>台北富邦</c:v>
                </c:pt>
                <c:pt idx="3">
                  <c:v>國泰世華</c:v>
                </c:pt>
                <c:pt idx="4">
                  <c:v>台新</c:v>
                </c:pt>
                <c:pt idx="5">
                  <c:v>星展(台灣)</c:v>
                </c:pt>
                <c:pt idx="6">
                  <c:v>聯邦</c:v>
                </c:pt>
                <c:pt idx="7">
                  <c:v>永豐</c:v>
                </c:pt>
                <c:pt idx="8">
                  <c:v>第一</c:v>
                </c:pt>
                <c:pt idx="9">
                  <c:v>遠東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15.64</c:v>
                </c:pt>
                <c:pt idx="1">
                  <c:v>14.46</c:v>
                </c:pt>
                <c:pt idx="2">
                  <c:v>12.22</c:v>
                </c:pt>
                <c:pt idx="3">
                  <c:v>12.13</c:v>
                </c:pt>
                <c:pt idx="4">
                  <c:v>10.97</c:v>
                </c:pt>
                <c:pt idx="5">
                  <c:v>5.5</c:v>
                </c:pt>
                <c:pt idx="6">
                  <c:v>4.52</c:v>
                </c:pt>
                <c:pt idx="7">
                  <c:v>4.1</c:v>
                </c:pt>
                <c:pt idx="8">
                  <c:v>2.53</c:v>
                </c:pt>
                <c:pt idx="9">
                  <c:v>2.13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規模 vs 成長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銀行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Sheet1!$A$2:$A$13</c:f>
              <c:numCache>
                <c:formatCode>General</c:formatCode>
                <c:ptCount val="12"/>
                <c:pt idx="0">
                  <c:v>2.1049</c:v>
                </c:pt>
                <c:pt idx="1">
                  <c:v>38.4715</c:v>
                </c:pt>
                <c:pt idx="2">
                  <c:v>945.8117</c:v>
                </c:pt>
                <c:pt idx="3">
                  <c:v>121.6355</c:v>
                </c:pt>
                <c:pt idx="4">
                  <c:v>110.6955</c:v>
                </c:pt>
                <c:pt idx="5">
                  <c:v>42.3651</c:v>
                </c:pt>
                <c:pt idx="6">
                  <c:v>15.4419</c:v>
                </c:pt>
                <c:pt idx="7">
                  <c:v>739.1132</c:v>
                </c:pt>
                <c:pt idx="8">
                  <c:v>663.2949</c:v>
                </c:pt>
                <c:pt idx="9">
                  <c:v>60.2725</c:v>
                </c:pt>
                <c:pt idx="10">
                  <c:v>19.8246</c:v>
                </c:pt>
                <c:pt idx="11">
                  <c:v>67.268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-0.8</c:v>
                </c:pt>
                <c:pt idx="1">
                  <c:v>-0.17</c:v>
                </c:pt>
                <c:pt idx="2">
                  <c:v>0.58</c:v>
                </c:pt>
                <c:pt idx="3">
                  <c:v>0.03</c:v>
                </c:pt>
                <c:pt idx="4">
                  <c:v>-0.39</c:v>
                </c:pt>
                <c:pt idx="5">
                  <c:v>1.18</c:v>
                </c:pt>
                <c:pt idx="6">
                  <c:v>0.42</c:v>
                </c:pt>
                <c:pt idx="7">
                  <c:v>0.3</c:v>
                </c:pt>
                <c:pt idx="8">
                  <c:v>-0.0</c:v>
                </c:pt>
                <c:pt idx="9">
                  <c:v>3.6</c:v>
                </c:pt>
                <c:pt idx="10">
                  <c:v>-0.5</c:v>
                </c:pt>
                <c:pt idx="11">
                  <c:v>-0.69</c:v>
                </c:pt>
              </c:numCache>
            </c:numRef>
          </c:yVal>
          <c:smooth val="0"/>
          <c:dLbls>
            <c:dLbl>
              <c:idx val="0"/>
              <c:dLblPos val="t"/>
              <c:tx>
                <c:rich>
                  <a:bodyPr/>
                  <a:lstStyle/>
                  <a:p>
                    <a:r>
                      <a:rPr lang="zh-TW" sz="1000"/>
                      <a:t>三信商業銀行</a:t>
                    </a:r>
                  </a:p>
                </c:rich>
              </c:tx>
              <c:showVal val="0"/>
              <c:showCatName val="0"/>
              <c:showSerName val="0"/>
            </c:dLbl>
            <c:dLbl>
              <c:idx val="1"/>
              <c:dLblPos val="t"/>
              <c:tx>
                <c:rich>
                  <a:bodyPr/>
                  <a:lstStyle/>
                  <a:p>
                    <a:r>
                      <a:rPr lang="zh-TW" sz="1000"/>
                      <a:t>上海商業儲蓄銀行</a:t>
                    </a:r>
                  </a:p>
                </c:rich>
              </c:tx>
              <c:showVal val="0"/>
              <c:showCatName val="0"/>
              <c:showSerName val="0"/>
            </c:dLbl>
            <c:dLbl>
              <c:idx val="2"/>
              <c:dLblPos val="t"/>
              <c:tx>
                <c:rich>
                  <a:bodyPr/>
                  <a:lstStyle/>
                  <a:p>
                    <a:r>
                      <a:rPr lang="zh-TW" sz="1000"/>
                      <a:t>中國信託商業銀行</a:t>
                    </a:r>
                  </a:p>
                </c:rich>
              </c:tx>
              <c:showVal val="0"/>
              <c:showCatName val="0"/>
              <c:showSerName val="0"/>
            </c:dLbl>
            <c:dLbl>
              <c:idx val="3"/>
              <c:dLblPos val="t"/>
              <c:tx>
                <c:rich>
                  <a:bodyPr/>
                  <a:lstStyle/>
                  <a:p>
                    <a:r>
                      <a:rPr lang="zh-TW" sz="1000"/>
                      <a:t>元大商業銀行</a:t>
                    </a:r>
                  </a:p>
                </c:rich>
              </c:tx>
              <c:showVal val="0"/>
              <c:showCatName val="0"/>
              <c:showSerName val="0"/>
            </c:dLbl>
            <c:dLbl>
              <c:idx val="4"/>
              <c:dLblPos val="t"/>
              <c:tx>
                <c:rich>
                  <a:bodyPr/>
                  <a:lstStyle/>
                  <a:p>
                    <a:r>
                      <a:rPr lang="zh-TW" sz="1000"/>
                      <a:t>兆豐國際商業銀行</a:t>
                    </a:r>
                  </a:p>
                </c:rich>
              </c:tx>
              <c:showVal val="0"/>
              <c:showCatName val="0"/>
              <c:showSerName val="0"/>
            </c:dLbl>
            <c:dLbl>
              <c:idx val="5"/>
              <c:dLblPos val="t"/>
              <c:tx>
                <c:rich>
                  <a:bodyPr/>
                  <a:lstStyle/>
                  <a:p>
                    <a:r>
                      <a:rPr lang="zh-TW" sz="1000"/>
                      <a:t>凱基商業銀行</a:t>
                    </a:r>
                  </a:p>
                </c:rich>
              </c:tx>
              <c:showVal val="0"/>
              <c:showCatName val="0"/>
              <c:showSerName val="0"/>
            </c:dLbl>
            <c:dLbl>
              <c:idx val="6"/>
              <c:dLblPos val="t"/>
              <c:tx>
                <c:rich>
                  <a:bodyPr/>
                  <a:lstStyle/>
                  <a:p>
                    <a:r>
                      <a:rPr lang="zh-TW" sz="1000"/>
                      <a:t>台中商業銀行</a:t>
                    </a:r>
                  </a:p>
                </c:rich>
              </c:tx>
              <c:showVal val="0"/>
              <c:showCatName val="0"/>
              <c:showSerName val="0"/>
            </c:dLbl>
            <c:dLbl>
              <c:idx val="7"/>
              <c:dLblPos val="t"/>
              <c:tx>
                <c:rich>
                  <a:bodyPr/>
                  <a:lstStyle/>
                  <a:p>
                    <a:r>
                      <a:rPr lang="zh-TW" sz="1000"/>
                      <a:t>台北富邦商業銀行</a:t>
                    </a:r>
                  </a:p>
                </c:rich>
              </c:tx>
              <c:showVal val="0"/>
              <c:showCatName val="0"/>
              <c:showSerName val="0"/>
            </c:dLbl>
            <c:dLbl>
              <c:idx val="8"/>
              <c:dLblPos val="t"/>
              <c:tx>
                <c:rich>
                  <a:bodyPr/>
                  <a:lstStyle/>
                  <a:p>
                    <a:r>
                      <a:rPr lang="zh-TW" sz="1000"/>
                      <a:t>台新國際商業銀行</a:t>
                    </a:r>
                  </a:p>
                </c:rich>
              </c:tx>
              <c:showVal val="0"/>
              <c:showCatName val="0"/>
              <c:showSerName val="0"/>
            </c:dLbl>
            <c:dLbl>
              <c:idx val="9"/>
              <c:dLblPos val="t"/>
              <c:tx>
                <c:rich>
                  <a:bodyPr/>
                  <a:lstStyle/>
                  <a:p>
                    <a:r>
                      <a:rPr lang="zh-TW" sz="1000"/>
                      <a:t>台灣樂天信用卡股份有限公司</a:t>
                    </a:r>
                  </a:p>
                </c:rich>
              </c:tx>
              <c:showVal val="0"/>
              <c:showCatName val="0"/>
              <c:showSerName val="0"/>
            </c:dLbl>
            <c:dLbl>
              <c:idx val="10"/>
              <c:dLblPos val="t"/>
              <c:tx>
                <c:rich>
                  <a:bodyPr/>
                  <a:lstStyle/>
                  <a:p>
                    <a:r>
                      <a:rPr lang="zh-TW" sz="1000"/>
                      <a:t>台灣美國運通國際(股)公司</a:t>
                    </a:r>
                  </a:p>
                </c:rich>
              </c:tx>
              <c:showVal val="0"/>
              <c:showCatName val="0"/>
              <c:showSerName val="0"/>
            </c:dLbl>
            <c:dLbl>
              <c:idx val="11"/>
              <c:dLblPos val="t"/>
              <c:tx>
                <c:rich>
                  <a:bodyPr/>
                  <a:lstStyle/>
                  <a:p>
                    <a:r>
                      <a:rPr lang="zh-TW" sz="1000"/>
                      <a:t>合作金庫商業銀行</a:t>
                    </a:r>
                  </a:p>
                </c:rich>
              </c:tx>
              <c:showVal val="0"/>
              <c:showCatName val="0"/>
              <c:showSerName val="0"/>
            </c:dLbl>
          </c:dLbls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min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min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卡數 vs 簽帳市占率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卡數市占(%)</c:v>
                </c:pt>
              </c:strCache>
            </c:strRef>
          </c:tx>
          <c:spPr>
            <a:solidFill>
              <a:srgbClr val="003366"/>
            </a:solidFill>
          </c:spPr>
          <c:cat>
            <c:strRef>
              <c:f>Sheet1!$A$2:$A$9</c:f>
              <c:strCache>
                <c:ptCount val="8"/>
                <c:pt idx="0">
                  <c:v>中國信託</c:v>
                </c:pt>
                <c:pt idx="1">
                  <c:v>玉山</c:v>
                </c:pt>
                <c:pt idx="2">
                  <c:v>台北富邦</c:v>
                </c:pt>
                <c:pt idx="3">
                  <c:v>國泰世華</c:v>
                </c:pt>
                <c:pt idx="4">
                  <c:v>台新</c:v>
                </c:pt>
                <c:pt idx="5">
                  <c:v>星展(台灣)</c:v>
                </c:pt>
                <c:pt idx="6">
                  <c:v>聯邦</c:v>
                </c:pt>
                <c:pt idx="7">
                  <c:v>永豐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15.64</c:v>
                </c:pt>
                <c:pt idx="1">
                  <c:v>14.46</c:v>
                </c:pt>
                <c:pt idx="2">
                  <c:v>12.22</c:v>
                </c:pt>
                <c:pt idx="3">
                  <c:v>12.13</c:v>
                </c:pt>
                <c:pt idx="4">
                  <c:v>10.97</c:v>
                </c:pt>
                <c:pt idx="5">
                  <c:v>5.5</c:v>
                </c:pt>
                <c:pt idx="6">
                  <c:v>4.52</c:v>
                </c:pt>
                <c:pt idx="7">
                  <c:v>4.1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簽帳市占(%)</c:v>
                </c:pt>
              </c:strCache>
            </c:strRef>
          </c:tx>
          <c:spPr>
            <a:solidFill>
              <a:srgbClr val="0066CC"/>
            </a:solidFill>
          </c:spPr>
          <c:cat>
            <c:strRef>
              <c:f>Sheet1!$A$2:$A$9</c:f>
              <c:strCache>
                <c:ptCount val="8"/>
                <c:pt idx="0">
                  <c:v>中國信託</c:v>
                </c:pt>
                <c:pt idx="1">
                  <c:v>玉山</c:v>
                </c:pt>
                <c:pt idx="2">
                  <c:v>台北富邦</c:v>
                </c:pt>
                <c:pt idx="3">
                  <c:v>國泰世華</c:v>
                </c:pt>
                <c:pt idx="4">
                  <c:v>台新</c:v>
                </c:pt>
                <c:pt idx="5">
                  <c:v>星展(台灣)</c:v>
                </c:pt>
                <c:pt idx="6">
                  <c:v>聯邦</c:v>
                </c:pt>
                <c:pt idx="7">
                  <c:v>永豐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18.5</c:v>
                </c:pt>
                <c:pt idx="1">
                  <c:v>11.97</c:v>
                </c:pt>
                <c:pt idx="2">
                  <c:v>12.98</c:v>
                </c:pt>
                <c:pt idx="3">
                  <c:v>18.05</c:v>
                </c:pt>
                <c:pt idx="4">
                  <c:v>10.67</c:v>
                </c:pt>
                <c:pt idx="5">
                  <c:v>5.29</c:v>
                </c:pt>
                <c:pt idx="6">
                  <c:v>3.31</c:v>
                </c:pt>
                <c:pt idx="7">
                  <c:v>3.49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每卡簽帳金額(元/卡)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每卡簽帳(元)</c:v>
                </c:pt>
              </c:strCache>
            </c:strRef>
          </c:tx>
          <c:spPr>
            <a:solidFill>
              <a:srgbClr val="003366"/>
            </a:solidFill>
          </c:spPr>
          <c:dPt>
            <c:idx val="0"/>
            <c:spPr>
              <a:solidFill>
                <a:srgbClr val="FFCC00"/>
              </a:solidFill>
            </c:spPr>
          </c:dPt>
          <c:dPt>
            <c:idx val="4"/>
            <c:spPr>
              <a:solidFill>
                <a:srgbClr val="003366"/>
              </a:solidFill>
            </c:spPr>
          </c:dPt>
          <c:cat>
            <c:strRef>
              <c:f>Sheet1!$A$2:$A$9</c:f>
              <c:strCache>
                <c:ptCount val="8"/>
                <c:pt idx="0">
                  <c:v>中國信託</c:v>
                </c:pt>
                <c:pt idx="1">
                  <c:v>玉山</c:v>
                </c:pt>
                <c:pt idx="2">
                  <c:v>台北富邦</c:v>
                </c:pt>
                <c:pt idx="3">
                  <c:v>國泰世華</c:v>
                </c:pt>
                <c:pt idx="4">
                  <c:v>台新</c:v>
                </c:pt>
                <c:pt idx="5">
                  <c:v>星展(台灣)</c:v>
                </c:pt>
                <c:pt idx="6">
                  <c:v>聯邦</c:v>
                </c:pt>
                <c:pt idx="7">
                  <c:v>永豐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8873.0</c:v>
                </c:pt>
                <c:pt idx="1">
                  <c:v>6207.0</c:v>
                </c:pt>
                <c:pt idx="2">
                  <c:v>7965.0</c:v>
                </c:pt>
                <c:pt idx="3">
                  <c:v>11159.0</c:v>
                </c:pt>
                <c:pt idx="4">
                  <c:v>7297.0</c:v>
                </c:pt>
                <c:pt idx="5">
                  <c:v>7216.0</c:v>
                </c:pt>
                <c:pt idx="6">
                  <c:v>5491.0</c:v>
                </c:pt>
                <c:pt idx="7">
                  <c:v>6390.0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Top 5 銀行月簽帳金額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中國信託</c:v>
                </c:pt>
              </c:strCache>
            </c:strRef>
          </c:tx>
          <c:spPr>
            <a:solidFill>
              <a:srgbClr val="003366"/>
            </a:solidFill>
          </c:spP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55.5</c:v>
                </c:pt>
                <c:pt idx="1">
                  <c:v>70.6</c:v>
                </c:pt>
                <c:pt idx="2">
                  <c:v>66.9</c:v>
                </c:pt>
                <c:pt idx="3">
                  <c:v>64.1</c:v>
                </c:pt>
                <c:pt idx="4">
                  <c:v>62.9</c:v>
                </c:pt>
                <c:pt idx="5">
                  <c:v>67.1</c:v>
                </c:pt>
                <c:pt idx="6">
                  <c:v>126.0</c:v>
                </c:pt>
                <c:pt idx="7">
                  <c:v>67.0</c:v>
                </c:pt>
                <c:pt idx="8">
                  <c:v>73.7</c:v>
                </c:pt>
                <c:pt idx="9">
                  <c:v>80.1</c:v>
                </c:pt>
                <c:pt idx="10">
                  <c:v>72.5</c:v>
                </c:pt>
                <c:pt idx="11">
                  <c:v>83.9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國泰世華</c:v>
                </c:pt>
              </c:strCache>
            </c:strRef>
          </c:tx>
          <c:spPr>
            <a:solidFill>
              <a:srgbClr val="0066CC"/>
            </a:solidFill>
          </c:spP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53.2</c:v>
                </c:pt>
                <c:pt idx="1">
                  <c:v>69.7</c:v>
                </c:pt>
                <c:pt idx="2">
                  <c:v>65.9</c:v>
                </c:pt>
                <c:pt idx="3">
                  <c:v>66.8</c:v>
                </c:pt>
                <c:pt idx="4">
                  <c:v>63.1</c:v>
                </c:pt>
                <c:pt idx="5">
                  <c:v>68.5</c:v>
                </c:pt>
                <c:pt idx="6">
                  <c:v>101.7</c:v>
                </c:pt>
                <c:pt idx="7">
                  <c:v>65.1</c:v>
                </c:pt>
                <c:pt idx="8">
                  <c:v>71.5</c:v>
                </c:pt>
                <c:pt idx="9">
                  <c:v>79.1</c:v>
                </c:pt>
                <c:pt idx="10">
                  <c:v>69.3</c:v>
                </c:pt>
                <c:pt idx="11">
                  <c:v>81.9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台北富邦</c:v>
                </c:pt>
              </c:strCache>
            </c:strRef>
          </c:tx>
          <c:spPr>
            <a:solidFill>
              <a:srgbClr val="FF6600"/>
            </a:solidFill>
          </c:spP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45.7</c:v>
                </c:pt>
                <c:pt idx="1">
                  <c:v>52.3</c:v>
                </c:pt>
                <c:pt idx="2">
                  <c:v>48.0</c:v>
                </c:pt>
                <c:pt idx="3">
                  <c:v>49.5</c:v>
                </c:pt>
                <c:pt idx="4">
                  <c:v>48.5</c:v>
                </c:pt>
                <c:pt idx="5">
                  <c:v>51.0</c:v>
                </c:pt>
                <c:pt idx="6">
                  <c:v>71.0</c:v>
                </c:pt>
                <c:pt idx="7">
                  <c:v>47.4</c:v>
                </c:pt>
                <c:pt idx="8">
                  <c:v>48.3</c:v>
                </c:pt>
                <c:pt idx="9">
                  <c:v>56.6</c:v>
                </c:pt>
                <c:pt idx="10">
                  <c:v>51.1</c:v>
                </c:pt>
                <c:pt idx="11">
                  <c:v>58.9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玉山</c:v>
                </c:pt>
              </c:strCache>
            </c:strRef>
          </c:tx>
          <c:spPr>
            <a:solidFill>
              <a:srgbClr val="339933"/>
            </a:solidFill>
          </c:spP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45.7</c:v>
                </c:pt>
                <c:pt idx="1">
                  <c:v>44.6</c:v>
                </c:pt>
                <c:pt idx="2">
                  <c:v>45.5</c:v>
                </c:pt>
                <c:pt idx="3">
                  <c:v>43.9</c:v>
                </c:pt>
                <c:pt idx="4">
                  <c:v>47.0</c:v>
                </c:pt>
                <c:pt idx="5">
                  <c:v>49.5</c:v>
                </c:pt>
                <c:pt idx="6">
                  <c:v>121.2</c:v>
                </c:pt>
                <c:pt idx="7">
                  <c:v>47.8</c:v>
                </c:pt>
                <c:pt idx="8">
                  <c:v>51.3</c:v>
                </c:pt>
                <c:pt idx="9">
                  <c:v>63.8</c:v>
                </c:pt>
                <c:pt idx="10">
                  <c:v>48.4</c:v>
                </c:pt>
                <c:pt idx="11">
                  <c:v>54.3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台新</c:v>
                </c:pt>
              </c:strCache>
            </c:strRef>
          </c:tx>
          <c:spPr>
            <a:solidFill>
              <a:srgbClr val="CC3333"/>
            </a:solidFill>
          </c:spP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35.4</c:v>
                </c:pt>
                <c:pt idx="1">
                  <c:v>42.8</c:v>
                </c:pt>
                <c:pt idx="2">
                  <c:v>39.7</c:v>
                </c:pt>
                <c:pt idx="3">
                  <c:v>40.3</c:v>
                </c:pt>
                <c:pt idx="4">
                  <c:v>40.7</c:v>
                </c:pt>
                <c:pt idx="5">
                  <c:v>43.8</c:v>
                </c:pt>
                <c:pt idx="6">
                  <c:v>63.0</c:v>
                </c:pt>
                <c:pt idx="7">
                  <c:v>39.0</c:v>
                </c:pt>
                <c:pt idx="8">
                  <c:v>43.9</c:v>
                </c:pt>
                <c:pt idx="9">
                  <c:v>48.8</c:v>
                </c:pt>
                <c:pt idx="10">
                  <c:v>43.4</c:v>
                </c:pt>
                <c:pt idx="11">
                  <c:v>48.4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流通卡數 Top 10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萬張</c:v>
                </c:pt>
              </c:strCache>
            </c:strRef>
          </c:tx>
          <c:spPr>
            <a:solidFill>
              <a:srgbClr val="003366"/>
            </a:solidFill>
          </c:spPr>
          <c:dPt>
            <c:idx val="0"/>
            <c:spPr>
              <a:solidFill>
                <a:srgbClr val="FFCC00"/>
              </a:solidFill>
            </c:spPr>
          </c:dPt>
          <c:dPt>
            <c:idx val="4"/>
            <c:spPr>
              <a:solidFill>
                <a:srgbClr val="003366"/>
              </a:solidFill>
            </c:spPr>
          </c:dPt>
          <c:cat>
            <c:strRef>
              <c:f>Sheet1!$A$2:$A$11</c:f>
              <c:strCache>
                <c:ptCount val="10"/>
                <c:pt idx="0">
                  <c:v>中國信託</c:v>
                </c:pt>
                <c:pt idx="1">
                  <c:v>玉山</c:v>
                </c:pt>
                <c:pt idx="2">
                  <c:v>台北富邦</c:v>
                </c:pt>
                <c:pt idx="3">
                  <c:v>國泰世華</c:v>
                </c:pt>
                <c:pt idx="4">
                  <c:v>台新國際</c:v>
                </c:pt>
                <c:pt idx="5">
                  <c:v>星展(台灣)</c:v>
                </c:pt>
                <c:pt idx="6">
                  <c:v>聯邦</c:v>
                </c:pt>
                <c:pt idx="7">
                  <c:v>永豐</c:v>
                </c:pt>
                <c:pt idx="8">
                  <c:v>第一</c:v>
                </c:pt>
                <c:pt idx="9">
                  <c:v>遠東國際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945.8</c:v>
                </c:pt>
                <c:pt idx="1">
                  <c:v>874.8</c:v>
                </c:pt>
                <c:pt idx="2">
                  <c:v>739.1</c:v>
                </c:pt>
                <c:pt idx="3">
                  <c:v>733.7</c:v>
                </c:pt>
                <c:pt idx="4">
                  <c:v>663.3</c:v>
                </c:pt>
                <c:pt idx="5">
                  <c:v>332.5</c:v>
                </c:pt>
                <c:pt idx="6">
                  <c:v>273.2</c:v>
                </c:pt>
                <c:pt idx="7">
                  <c:v>247.9</c:v>
                </c:pt>
                <c:pt idx="8">
                  <c:v>153.1</c:v>
                </c:pt>
                <c:pt idx="9">
                  <c:v>129.0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【KPI 詳細數據】</a:t>
            </a:r>
          </a:p>
          <a:p>
            <a:r>
              <a:t>  • 市場流通卡數: 6,049 萬 (metric_id: market_cards)</a:t>
            </a:r>
          </a:p>
          <a:p>
            <a:r>
              <a:t>  • 市場簽帳金額(月): 454 億 (metric_id: market_amount)</a:t>
            </a:r>
          </a:p>
          <a:p>
            <a:r>
              <a:t>  • 三信商業銀行市占率: 0.0% (metric_id: ts_share)</a:t>
            </a:r>
          </a:p>
          <a:p>
            <a:r>
              <a:t>  • 三信商業銀行簽帳市占: 0.0% (metric_id: ts_amount_share)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【圖表】市場規模趨勢 — 流通卡數與簽帳金額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【圖表】流通卡數市占率 Top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【圖表】規模 vs 成長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【圖表】卡數 vs 簽帳市占率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【圖表】每卡簽帳金額(元/卡)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【圖表】Top 5 銀行月簽帳金額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【圖表】流通卡數 Top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preserve="1">
  <p:cSld name="標題投影片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圖形 的圖片&#10;&#10;AI 產生的內容可能不正確。">
            <a:extLst>
              <a:ext uri="{FF2B5EF4-FFF2-40B4-BE49-F238E27FC236}">
                <a16:creationId xmlns:a16="http://schemas.microsoft.com/office/drawing/2014/main" id="{026A16C4-3BD0-72DB-C8B5-239F03494B4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sp>
        <p:nvSpPr>
          <p:cNvPr id="14" name="Google Shape;14;p7"/>
          <p:cNvSpPr txBox="1">
            <a:spLocks noGrp="1"/>
          </p:cNvSpPr>
          <p:nvPr>
            <p:ph type="title"/>
          </p:nvPr>
        </p:nvSpPr>
        <p:spPr>
          <a:xfrm>
            <a:off x="1114515" y="1278736"/>
            <a:ext cx="9962700" cy="7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F4F4F"/>
              </a:buClr>
              <a:buSzPts val="3000"/>
              <a:buNone/>
              <a:defRPr sz="3000" i="0">
                <a:solidFill>
                  <a:srgbClr val="4F4F4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>
            <a:endParaRPr/>
          </a:p>
        </p:txBody>
      </p:sp>
      <p:sp>
        <p:nvSpPr>
          <p:cNvPr id="15" name="Google Shape;15;p7"/>
          <p:cNvSpPr txBox="1">
            <a:spLocks noGrp="1"/>
          </p:cNvSpPr>
          <p:nvPr>
            <p:ph type="body" idx="1"/>
          </p:nvPr>
        </p:nvSpPr>
        <p:spPr>
          <a:xfrm>
            <a:off x="1114350" y="2394796"/>
            <a:ext cx="9963300" cy="30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E171B"/>
              </a:buClr>
              <a:buSzPts val="2400"/>
              <a:buChar char="●"/>
              <a:defRPr i="0">
                <a:solidFill>
                  <a:srgbClr val="4F4F4F"/>
                </a:solidFill>
              </a:defRPr>
            </a:lvl1pPr>
            <a:lvl2pPr marL="914400" marR="0" lvl="1" indent="-355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2000"/>
              <a:buChar char="●"/>
              <a:defRPr i="0">
                <a:solidFill>
                  <a:srgbClr val="4F4F4F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800"/>
              <a:buChar char="■"/>
              <a:defRPr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800"/>
              <a:buNone/>
              <a:defRPr b="1"/>
            </a:lvl4pPr>
            <a:lvl5pPr marL="2286000" lvl="4" indent="-3238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500"/>
              <a:buChar char="•"/>
              <a:defRPr sz="1500" b="1"/>
            </a:lvl5pPr>
            <a:lvl6pPr marL="2743200" lvl="5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400"/>
              <a:buChar char="•"/>
              <a:defRPr sz="1400" b="1">
                <a:solidFill>
                  <a:srgbClr val="464444"/>
                </a:solidFill>
              </a:defRPr>
            </a:lvl6pPr>
            <a:lvl7pPr marL="3200400" lvl="6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200"/>
              <a:buChar char="•"/>
              <a:defRPr sz="1200" b="1">
                <a:solidFill>
                  <a:srgbClr val="464444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000"/>
              <a:buChar char="•"/>
              <a:defRPr sz="1000" b="1">
                <a:solidFill>
                  <a:srgbClr val="464444"/>
                </a:solidFill>
              </a:defRPr>
            </a:lvl8pPr>
            <a:lvl9pPr marL="4114800" lvl="8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800"/>
              <a:buChar char="•"/>
              <a:defRPr sz="800" b="1">
                <a:solidFill>
                  <a:srgbClr val="464444"/>
                </a:solidFill>
              </a:defRPr>
            </a:lvl9pPr>
          </a:lstStyle>
          <a:p>
            <a:endParaRPr/>
          </a:p>
        </p:txBody>
      </p:sp>
      <p:cxnSp>
        <p:nvCxnSpPr>
          <p:cNvPr id="16" name="Google Shape;16;p7"/>
          <p:cNvCxnSpPr/>
          <p:nvPr/>
        </p:nvCxnSpPr>
        <p:spPr>
          <a:xfrm>
            <a:off x="1114515" y="2056042"/>
            <a:ext cx="9962700" cy="0"/>
          </a:xfrm>
          <a:prstGeom prst="straightConnector1">
            <a:avLst/>
          </a:prstGeom>
          <a:noFill/>
          <a:ln w="19050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7" name="Google Shape;17;p7" title="金控_中_白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0600" y="5618832"/>
            <a:ext cx="2830550" cy="10770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20488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標題投影片" preserve="1">
  <p:cSld name="2_標題投影片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圖形 的圖片&#10;&#10;AI 產生的內容可能不正確。">
            <a:extLst>
              <a:ext uri="{FF2B5EF4-FFF2-40B4-BE49-F238E27FC236}">
                <a16:creationId xmlns:a16="http://schemas.microsoft.com/office/drawing/2014/main" id="{E912A1DA-C32A-79BA-3D45-A52103A38DF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pic>
        <p:nvPicPr>
          <p:cNvPr id="19" name="Google Shape;19;p8" title="金控_中_白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0600" y="5618832"/>
            <a:ext cx="2830550" cy="1077051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8"/>
          <p:cNvSpPr txBox="1">
            <a:spLocks noGrp="1"/>
          </p:cNvSpPr>
          <p:nvPr>
            <p:ph type="title"/>
          </p:nvPr>
        </p:nvSpPr>
        <p:spPr>
          <a:xfrm>
            <a:off x="1114531" y="1640061"/>
            <a:ext cx="9962700" cy="21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4F4F"/>
              </a:buClr>
              <a:buSzPts val="4400"/>
              <a:buNone/>
              <a:defRPr sz="4400" i="0">
                <a:solidFill>
                  <a:srgbClr val="4F4F4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460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標題投影片" preserve="1">
  <p:cSld name="3_標題投影片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圖形, 設計 的圖片&#10;&#10;AI 產生的內容可能不正確。">
            <a:extLst>
              <a:ext uri="{FF2B5EF4-FFF2-40B4-BE49-F238E27FC236}">
                <a16:creationId xmlns:a16="http://schemas.microsoft.com/office/drawing/2014/main" id="{C649EEB2-B486-967D-A023-BE167D421E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pic>
        <p:nvPicPr>
          <p:cNvPr id="22" name="Google Shape;22;p9" title="金控_中_白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0600" y="5618832"/>
            <a:ext cx="2830550" cy="1077051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9"/>
          <p:cNvSpPr txBox="1">
            <a:spLocks noGrp="1"/>
          </p:cNvSpPr>
          <p:nvPr>
            <p:ph type="title"/>
          </p:nvPr>
        </p:nvSpPr>
        <p:spPr>
          <a:xfrm>
            <a:off x="1114531" y="1640061"/>
            <a:ext cx="9962700" cy="21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4F4F"/>
              </a:buClr>
              <a:buSzPts val="4400"/>
              <a:buNone/>
              <a:defRPr sz="4400" i="0">
                <a:solidFill>
                  <a:srgbClr val="4F4F4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13661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標題及內容" preserve="1">
  <p:cSld name="1_標題及內容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0"/>
          <p:cNvSpPr txBox="1">
            <a:spLocks noGrp="1"/>
          </p:cNvSpPr>
          <p:nvPr>
            <p:ph type="body" idx="1"/>
          </p:nvPr>
        </p:nvSpPr>
        <p:spPr>
          <a:xfrm>
            <a:off x="368595" y="1247553"/>
            <a:ext cx="11242500" cy="48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CC181D"/>
              </a:buClr>
              <a:buSzPts val="2400"/>
              <a:buFont typeface="Noto Sans Symbols"/>
              <a:buChar char="■"/>
              <a:defRPr sz="2400" b="1"/>
            </a:lvl1pPr>
            <a:lvl2pPr marL="914400" lvl="1" indent="-355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2000"/>
              <a:buFont typeface="Noto Sans Symbols"/>
              <a:buChar char="●"/>
              <a:defRPr sz="2000" b="1"/>
            </a:lvl2pPr>
            <a:lvl3pPr marL="1371600" lvl="2" indent="-330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1600"/>
              <a:buFont typeface="Noto Sans Symbols"/>
              <a:buChar char="●"/>
              <a:defRPr sz="1600" b="1"/>
            </a:lvl3pPr>
            <a:lvl4pPr marL="1828800" lvl="3" indent="-30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1200"/>
              <a:buFont typeface="Arial"/>
              <a:buChar char="•"/>
              <a:defRPr sz="1200" b="1"/>
            </a:lvl4pPr>
            <a:lvl5pPr marL="2286000" lvl="4" indent="-31432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1350"/>
              <a:buFont typeface="Noto Sans Symbols"/>
              <a:buChar char="●"/>
              <a:defRPr sz="1350" b="1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title"/>
          </p:nvPr>
        </p:nvSpPr>
        <p:spPr>
          <a:xfrm>
            <a:off x="349956" y="259072"/>
            <a:ext cx="11261019" cy="759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64444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0"/>
          <p:cNvSpPr txBox="1">
            <a:spLocks noGrp="1"/>
          </p:cNvSpPr>
          <p:nvPr>
            <p:ph type="sldNum" idx="12"/>
          </p:nvPr>
        </p:nvSpPr>
        <p:spPr>
          <a:xfrm flipH="1">
            <a:off x="11397425" y="6394525"/>
            <a:ext cx="651300" cy="32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  <p:sp>
        <p:nvSpPr>
          <p:cNvPr id="28" name="Google Shape;28;p10"/>
          <p:cNvSpPr txBox="1"/>
          <p:nvPr/>
        </p:nvSpPr>
        <p:spPr>
          <a:xfrm>
            <a:off x="-2146501" y="-1235899"/>
            <a:ext cx="11261019" cy="759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64444"/>
              </a:buClr>
              <a:buSzPts val="3000"/>
              <a:buFont typeface="Noto Sans"/>
              <a:buNone/>
            </a:pPr>
            <a:endParaRPr sz="3000" b="1" i="0" u="none" strike="noStrike" cap="none">
              <a:solidFill>
                <a:srgbClr val="464444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29" name="Google Shape;29;p10" title="標語_中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311550" y="6534225"/>
            <a:ext cx="1071550" cy="128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10" title="金控_中_彩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6248175"/>
            <a:ext cx="1602775" cy="6098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1" name="Google Shape;31;p10"/>
          <p:cNvCxnSpPr/>
          <p:nvPr/>
        </p:nvCxnSpPr>
        <p:spPr>
          <a:xfrm>
            <a:off x="1597301" y="6445831"/>
            <a:ext cx="8341800" cy="0"/>
          </a:xfrm>
          <a:prstGeom prst="straightConnector1">
            <a:avLst/>
          </a:prstGeom>
          <a:noFill/>
          <a:ln w="19050" cap="flat" cmpd="sng">
            <a:solidFill>
              <a:srgbClr val="D70C1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Google Shape;32;p10"/>
          <p:cNvCxnSpPr/>
          <p:nvPr/>
        </p:nvCxnSpPr>
        <p:spPr>
          <a:xfrm rot="10800000">
            <a:off x="9939225" y="6445838"/>
            <a:ext cx="1446600" cy="0"/>
          </a:xfrm>
          <a:prstGeom prst="straightConnector1">
            <a:avLst/>
          </a:prstGeom>
          <a:noFill/>
          <a:ln w="19050" cap="flat" cmpd="sng">
            <a:solidFill>
              <a:srgbClr val="D8D8D8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519643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章節標題" preserve="1">
  <p:cSld name="2_章節標題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設計 的圖片&#10;&#10;AI 產生的內容可能不正確。">
            <a:extLst>
              <a:ext uri="{FF2B5EF4-FFF2-40B4-BE49-F238E27FC236}">
                <a16:creationId xmlns:a16="http://schemas.microsoft.com/office/drawing/2014/main" id="{3B5AF3D8-B199-5417-755A-9D51D04F6E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sp>
        <p:nvSpPr>
          <p:cNvPr id="34" name="Google Shape;34;p11"/>
          <p:cNvSpPr txBox="1">
            <a:spLocks noGrp="1"/>
          </p:cNvSpPr>
          <p:nvPr>
            <p:ph type="title"/>
          </p:nvPr>
        </p:nvSpPr>
        <p:spPr>
          <a:xfrm>
            <a:off x="831851" y="4128475"/>
            <a:ext cx="10515600" cy="16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64444"/>
              </a:buClr>
              <a:buSzPts val="4800"/>
              <a:buNone/>
              <a:defRPr sz="4800" i="0">
                <a:solidFill>
                  <a:srgbClr val="464444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>
            <a:endParaRPr/>
          </a:p>
        </p:txBody>
      </p:sp>
      <p:pic>
        <p:nvPicPr>
          <p:cNvPr id="35" name="Google Shape;35;p11" title="金控_中_白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08100" y="688548"/>
            <a:ext cx="5575550" cy="21215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48605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D00B95-F112-B8B7-381C-1E417E4AB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7BE2AAC-90E4-D32C-C2EC-A159487F55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8B5046B-CF36-90D5-96AF-C53DBA745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F5755-7018-4945-A46B-2B4DE79FC767}" type="datetimeFigureOut">
              <a:rPr kumimoji="1" lang="zh-TW" altLang="en-US" smtClean="0"/>
              <a:t>2026/5/26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C4874EB-7423-DBD2-1C7B-424E851D8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530B08D-6B26-34AE-92D0-8D2AB1E7F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7DD83-9373-1C49-B3EB-CD40710A3CC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626679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>
            <a:spLocks noGrp="1"/>
          </p:cNvSpPr>
          <p:nvPr>
            <p:ph type="body" idx="1"/>
          </p:nvPr>
        </p:nvSpPr>
        <p:spPr>
          <a:xfrm>
            <a:off x="519290" y="1176425"/>
            <a:ext cx="11091600" cy="50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F0000"/>
              </a:buClr>
              <a:buSzPts val="2400"/>
              <a:buFont typeface="Microsoft JhengHei"/>
              <a:buChar char="■"/>
              <a:defRPr sz="24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F0000"/>
              </a:buClr>
              <a:buSzPts val="2000"/>
              <a:buFont typeface="Microsoft JhengHei"/>
              <a:buChar char="■"/>
              <a:defRPr sz="20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F0000"/>
              </a:buClr>
              <a:buSzPts val="1600"/>
              <a:buFont typeface="Microsoft JhengHei"/>
              <a:buChar char="■"/>
              <a:defRPr sz="16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64444"/>
              </a:buClr>
              <a:buSzPts val="1600"/>
              <a:buFont typeface="Microsoft JhengHei"/>
              <a:buNone/>
              <a:defRPr sz="16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4pPr>
            <a:lvl5pPr marL="2286000" marR="0" lvl="4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64444"/>
              </a:buClr>
              <a:buSzPts val="2400"/>
              <a:buFont typeface="Microsoft JhengHei"/>
              <a:buChar char="•"/>
              <a:defRPr sz="24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icrosoft JhengHei"/>
              <a:buChar char="•"/>
              <a:defRPr sz="18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icrosoft JhengHei"/>
              <a:buChar char="•"/>
              <a:defRPr sz="18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icrosoft JhengHei"/>
              <a:buChar char="•"/>
              <a:defRPr sz="18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icrosoft JhengHei"/>
              <a:buChar char="•"/>
              <a:defRPr sz="18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9pPr>
          </a:lstStyle>
          <a:p>
            <a:endParaRPr/>
          </a:p>
        </p:txBody>
      </p:sp>
      <p:sp>
        <p:nvSpPr>
          <p:cNvPr id="11" name="Google Shape;11;p6"/>
          <p:cNvSpPr txBox="1">
            <a:spLocks noGrp="1"/>
          </p:cNvSpPr>
          <p:nvPr>
            <p:ph type="title"/>
          </p:nvPr>
        </p:nvSpPr>
        <p:spPr>
          <a:xfrm>
            <a:off x="519290" y="259072"/>
            <a:ext cx="11091685" cy="759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64444"/>
              </a:buClr>
              <a:buSzPts val="3000"/>
              <a:buFont typeface="Microsoft JhengHei"/>
              <a:buNone/>
              <a:defRPr sz="30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9pPr>
          </a:lstStyle>
          <a:p>
            <a:endParaRPr/>
          </a:p>
        </p:txBody>
      </p:sp>
      <p:sp>
        <p:nvSpPr>
          <p:cNvPr id="12" name="Google Shape;12;p6"/>
          <p:cNvSpPr txBox="1">
            <a:spLocks noGrp="1"/>
          </p:cNvSpPr>
          <p:nvPr>
            <p:ph type="sldNum" idx="12"/>
          </p:nvPr>
        </p:nvSpPr>
        <p:spPr>
          <a:xfrm flipH="1">
            <a:off x="11397425" y="6394525"/>
            <a:ext cx="651300" cy="32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558018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&#38468;&#20214;&#22235;_&#38928;&#26399;&#20462;&#27491;&#21443;&#29031;&#36039;&#26009;.xlsx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6000" y="1440000"/>
            <a:ext cx="99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銀行信用卡市場分析與經營洞察簡報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6000" y="2520000"/>
            <a:ext cx="9972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33333"/>
                </a:solidFill>
              </a:defRPr>
            </a:pPr>
            <a:r>
              <a:t>114 年 1-12 月信用卡業務數據深度解析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6000" y="3420000"/>
            <a:ext cx="9972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66CC"/>
                </a:solidFill>
              </a:defRPr>
            </a:pPr>
            <a:r>
              <a:t>台新國際商業銀行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003366"/>
                </a:solidFill>
              </a:defRPr>
            </a:pPr>
            <a: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本簡報涵蓋資料概覽、趨勢分析、結構解析與策略建議四大面向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000" y="1620000"/>
            <a:ext cx="90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3366"/>
                </a:solidFill>
              </a:defRPr>
            </a:pPr>
            <a:r>
              <a:t>CHAPTER 01  市場整體概況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2340000"/>
            <a:ext cx="90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3366"/>
                </a:solidFill>
              </a:defRPr>
            </a:pPr>
            <a:r>
              <a:t>CHAPTER 02  同業競爭分析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" y="3060000"/>
            <a:ext cx="90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3366"/>
                </a:solidFill>
              </a:defRPr>
            </a:pPr>
            <a:r>
              <a:t>CHAPTER 03  客戶活躍度與獲利能力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3780000"/>
            <a:ext cx="90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3366"/>
                </a:solidFill>
              </a:defRPr>
            </a:pPr>
            <a:r>
              <a:t>CHAPTER 04  風險與警訊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4500000"/>
            <a:ext cx="90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3366"/>
                </a:solidFill>
              </a:defRPr>
            </a:pPr>
            <a:r>
              <a:t>CHAPTER 05  對台新的策略建議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003366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資料尚未載入，無法產生執行摘要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1440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</a:defRPr>
            </a:pPr>
            <a:r>
              <a:t>市場流通卡數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764000"/>
            <a:ext cx="27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6,049 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8000" y="1440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</a:defRPr>
            </a:pPr>
            <a:r>
              <a:t>市場簽帳金額(月)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68000" y="1764000"/>
            <a:ext cx="27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454 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6000" y="1440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</a:defRPr>
            </a:pPr>
            <a:r>
              <a:t>三信商業銀行市占率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76000" y="1764000"/>
            <a:ext cx="27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6000" y="2340000"/>
            <a:ext cx="27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排名第五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84000" y="1440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</a:defRPr>
            </a:pPr>
            <a:r>
              <a:t>三信商業銀行簽帳市占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4000" y="1764000"/>
            <a:ext cx="27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0.0%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2880000"/>
            <a:ext cx="11232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關鍵洞察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000" y="3240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目前計算引擎未提供任何指標數據，無法進行分析。執行摘要頁面需要關鍵績效指標、趨勢數據或比較基準才能產出策略洞察。建議確認資料來源是否正確載入，或檢視後續頁面是否包含可供摘要的分析內容。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Chapter 01 市場整體概況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003366"/>
                </a:solidFill>
              </a:defRPr>
            </a:pPr>
            <a:r>
              <a:t>市場規模趨勢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無法產生洞察：缺少計量數據支撐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0000" y="1620000"/>
          <a:ext cx="10800000" cy="36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0000" y="5400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◆ 本頁標示為「市場規模趨勢」，但計算引擎未提供任何可引用的指標數據（metric_id 清單為空）。在缺乏數值證據的情況下，無法判斷市場規模的實際表現、變化方向或業務意涵。建議行動：請檢查資料來源是否完整上傳，或確認此頁是否應調整為其他有數據支撐的分析主題。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003366"/>
                </a:solidFill>
              </a:defRPr>
            </a:pPr>
            <a:r>
              <a:t>市占率排名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無法產生洞察：計算引擎未提供任何市占率數據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0000" y="1620000"/>
          <a:ext cx="10800000" cy="36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0000" y="5400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◆ 本頁面規劃為「市占率排名」分析，但計算引擎回傳空白結果集（metric_ids 為空陣列）。這可能反映三種情況：(1) 原始資料中缺少市占率相關欄位，(2) 資料處理流程中市占率計算邏輯尚未執行，或 (3) 資料範圍設定導致無符合條件的記錄。**建議行動**：請檢查原始資料是否包含各銀行的交易量或金額數據，並確認計算引擎已正確執行市占率計算邏輯（分子：各銀行數值 ÷ 分母：總體市場數值）。若資料確實存在但未被處理，需回溯資料載入與轉換步驟。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5868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◆ 儘管頁面已預設六家銀行類別（中國信託、玉山、台北富邦、國泰世華、台新、星展），但無對應數值可供排名比較。**管理意涵**：無法執行競爭定位分析，無法識別市場領導者或落後者，策略規劃將缺乏量化依據。**可能原因**：推測資料來源可能僅包含單一機構數據，或市場總量基準值缺失導致市占率無法計算。**建議行動**：若目標是進行跨行比較，需補充同業數據；若僅有自身數據，應調整簡報架構為「自身績效趨勢」而非「市占率排名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Chapter 02 同業競爭分析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003366"/>
                </a:solidFill>
              </a:defRPr>
            </a:pPr>
            <a:r>
              <a:t>規模 vs 成長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無可用數據，無法進行規模與成長關係分析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0000" y="1620000"/>
          <a:ext cx="10800000" cy="36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0000" y="5400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◆ 計算引擎未提供任何指標數據，無法執行散佈圖分析。這可能反映資料來源尚未完成處理、欄位映射錯誤，或該頁面所需的雙變量指標（如規模指標與成長率指標）在原始資料中不存在。建議行動：(1) 確認原始資料是否包含可配對的規模與成長指標；(2) 檢查資料處理流程是否正確提取並計算相關指標；(3) 若資料確實缺失，考慮調整簡報結構，移除此頁或以替代分析方式呈現。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003366"/>
                </a:solidFill>
              </a:defRPr>
            </a:pPr>
            <a:r>
              <a:t>簽帳金額市占率比較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無法產生洞察：計算引擎未提供任何市占率數據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0000" y="1620000"/>
          <a:ext cx="10800000" cy="36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0000" y="5400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◆ 本頁規劃為「簽帳金額市占率比較」，但計算引擎回傳空白結果（[]），表示原始資料中缺少市占率指標或計算所需的基礎數據。這可能反映資料來源未涵蓋市場整體交易量，或資料處理階段未完成市占率計算。**建議行動**：(1) 確認原始資料是否包含各銀行簽帳金額與市場總量；(2) 若資料完整但未計算市占率，需補充計算邏輯；(3) 若資料本身不支援市占率分析，建議調整本頁主題為「簽帳金額絕對值比較」或移除此頁。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Chapter 03 客戶活躍度與獲利能力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003366"/>
                </a:solidFill>
              </a:defRPr>
            </a:pPr>
            <a:r>
              <a:t>每卡簽帳金額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資料缺失：無法進行每卡簽帳金額分析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0000" y="1620000"/>
          <a:ext cx="10800000" cy="36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0000" y="5400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◆ 計算引擎未提供任何每卡簽帳金額數據，無法進行銀行間比較分析。這可能反映資料來源尚未整合此指標，或該指標需要額外的資料欄位支援（如總簽帳金額與流通卡數）。建議確認原始資料是否包含「總簽帳金額」與「流通卡數」兩項指標，若有則需重新執行計算引擎以產生每卡簽帳金額；若無則需從資料源頭補充此資訊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5868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◆ 每卡簽帳金額是衡量信用卡業務品質的關鍵指標，反映單一持卡人的消費力與卡片活躍度。缺少此指標將無法評估各銀行在「深度經營」面向的表現差異——即使發卡量相同，每卡簽帳金額高的銀行代表客群價值更高、卡片使用率更佳。建議將此指標列為必要分析項目，並建立持續追蹤機制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003366"/>
                </a:solidFill>
              </a:defRPr>
            </a:pPr>
            <a:r>
              <a:t>Top 5 銀行簽帳金額趨勢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無法產生洞察：缺少計算引擎數據支持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0000" y="1620000"/>
          <a:ext cx="10800000" cy="36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0000" y="5400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◆ 本頁面規劃為「Top 5 銀行簽帳金額趨勢」分析，但計算引擎未提供任何 metric_id 或數值結果。根據系統設計原則，AI 不得自行計算、推測或虛構數據。建議檢查：(1) 原始資料是否包含各銀行的月度簽帳金額；(2) 計算引擎是否成功執行 Top 5 篩選與時間序列彙總；(3) metric_id 映射是否正確傳遞至本階段。在數據補齊前，此頁面無法產出有效的策略洞察。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Chapter 04 風險與警訊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003366"/>
                </a:solidFill>
              </a:defRPr>
            </a:pPr>
            <a:r>
              <a:t>流通卡數月增率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無法產生洞察：計算引擎未提供任何數據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0000" y="1620000"/>
          <a:ext cx="10800000" cy="36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0000" y="5400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◆ 本頁標題為「流通卡數月增率」，但計算引擎回傳空陣列，表示資料來源缺少必要的時間序列數據或計算失敗。在無數據支撐的情況下，無法判斷各銀行流通卡數的成長動能、市場擴張速度或競爭態勢。建議行動：(1) 確認原始資料是否包含至少連續兩期的流通卡數，以計算月增率；(2) 檢查資料欄位命名是否符合計算引擎的辨識規則；(3) 若資料確實缺失，考慮改用「流通卡數絕對值」或「市占率」等替代指標呈現銀行規模與競爭地位。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003366"/>
                </a:solidFill>
              </a:defRPr>
            </a:pPr>
            <a:r>
              <a:t>Chapter 05 台新策略建議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缺乏數據支撐，無法產出策略建議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440000"/>
            <a:ext cx="72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66CC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0000" y="1440000"/>
            <a:ext cx="9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重新檢視簡報架構與數據流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0000" y="1764000"/>
            <a:ext cx="9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3333"/>
                </a:solidFill>
              </a:defRPr>
            </a:pPr>
            <a:r>
              <a:t>策略建議頁應為前述分析的總結與行動方案。若無數據可引用，可能原因包括：(1) 前面章節未產生可供決策的關鍵指標，(2) 數據傳遞流程中斷，(3) 簡報結構設計未將發現轉化為可引用的 metrics。建議回顧第 1-14 頁的分析重點，確保每個章節都有明確的數據發現，並將這些發現的 metric_ids 彙整至本頁。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520000"/>
            <a:ext cx="72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66CC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0000" y="2520000"/>
            <a:ext cx="9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建立「發現→策略→行動」的邏輯鏈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0000" y="2844000"/>
            <a:ext cx="9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3333"/>
                </a:solidFill>
              </a:defRPr>
            </a:pPr>
            <a:r>
              <a:t>有效的策略頁必須展現清晰的因果邏輯：從數據發現（What）→管理意涵（So What）→行動方案（Now What）。目前缺少數據層，無法建立此邏輯鏈。建議在前述章節中標記 3-5 個最關鍵的發現（如市占變化、成長落差、風險指標），並在本頁引用這些數據作為策略建議的證據基礎。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6000" y="1800000"/>
            <a:ext cx="9972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感謝聆聽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6000" y="3060000"/>
            <a:ext cx="99720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台新國際商業銀行 — 信用卡市場分析與經營洞察</a:t>
            </a:r>
          </a:p>
          <a:p>
            <a:pPr algn="ctr">
              <a:defRPr sz="1100">
                <a:solidFill>
                  <a:srgbClr val="666666"/>
                </a:solidFill>
              </a:defRPr>
            </a:pPr>
            <a:r>
              <a:t>資料來源：各金融機構信用卡重要資訊揭露（114年1-12月）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6000" y="4320000"/>
            <a:ext cx="9972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u="sng">
                <a:solidFill>
                  <a:srgbClr val="0066CC"/>
                </a:solidFill>
                <a:hlinkClick r:id="rId2"/>
              </a:rPr>
              <a:t>📎 原始資料：附件四_預期修正參照資料.xlsx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佈景主題">
  <a:themeElements>
    <a:clrScheme name="Office 佈景主題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</Words>
  <Application>Microsoft Office PowerPoint</Application>
  <PresentationFormat>寬螢幕</PresentationFormat>
  <Paragraphs>2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0" baseType="lpstr">
      <vt:lpstr>Noto Sans Symbols</vt:lpstr>
      <vt:lpstr>Microsoft JhengHei</vt:lpstr>
      <vt:lpstr>Arial</vt:lpstr>
      <vt:lpstr>Noto Sans</vt:lpstr>
      <vt:lpstr>1_Office 佈景主題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蕭宇喬</dc:creator>
  <cp:lastModifiedBy>蕭宇喬</cp:lastModifiedBy>
  <cp:revision>2</cp:revision>
  <dcterms:created xsi:type="dcterms:W3CDTF">2026-05-26T08:53:52Z</dcterms:created>
  <dcterms:modified xsi:type="dcterms:W3CDTF">2026-05-26T08:55:08Z</dcterms:modified>
</cp:coreProperties>
</file>