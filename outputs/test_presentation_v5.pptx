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6"/>
    <p:sldId id="257" r:id="rId5"/>
    <p:sldId id="258" r:id="rId4"/>
    <p:sldId id="259" r:id="rId3"/>
    <p:sldId id="260" r:id="rId2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904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5.xml"/><Relationship Id="rId3" Type="http://schemas.openxmlformats.org/officeDocument/2006/relationships/slide" Target="slides/slide4.xml"/><Relationship Id="rId4" Type="http://schemas.openxmlformats.org/officeDocument/2006/relationships/slide" Target="slides/slide3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市場流通卡數趨勢（萬張）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流通卡數（萬張）</c:v>
                </c:pt>
              </c:strCache>
            </c:strRef>
          </c:tx>
          <c:spPr>
            <a:ln w="31750">
              <a:solidFill>
                <a:srgbClr val="003366"/>
              </a:solidFill>
            </a:ln>
          </c:spPr>
          <c:cat>
            <c:strRef>
              <c:f>Sheet1!$A$2:$A$13</c:f>
              <c:strCache>
                <c:ptCount val="12"/>
                <c:pt idx="0">
                  <c:v>01月</c:v>
                </c:pt>
                <c:pt idx="1">
                  <c:v>02月</c:v>
                </c:pt>
                <c:pt idx="2">
                  <c:v>03月</c:v>
                </c:pt>
                <c:pt idx="3">
                  <c:v>04月</c:v>
                </c:pt>
                <c:pt idx="4">
                  <c:v>05月</c:v>
                </c:pt>
                <c:pt idx="5">
                  <c:v>06月</c:v>
                </c:pt>
                <c:pt idx="6">
                  <c:v>07月</c:v>
                </c:pt>
                <c:pt idx="7">
                  <c:v>08月</c:v>
                </c:pt>
                <c:pt idx="8">
                  <c:v>09月</c:v>
                </c:pt>
                <c:pt idx="9">
                  <c:v>10月</c:v>
                </c:pt>
                <c:pt idx="10">
                  <c:v>11月</c:v>
                </c:pt>
                <c:pt idx="11">
                  <c:v>12月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5865.4745</c:v>
                </c:pt>
                <c:pt idx="1">
                  <c:v>5874.7562</c:v>
                </c:pt>
                <c:pt idx="2">
                  <c:v>5899.4262</c:v>
                </c:pt>
                <c:pt idx="3">
                  <c:v>5938.8667</c:v>
                </c:pt>
                <c:pt idx="4">
                  <c:v>5979.5907</c:v>
                </c:pt>
                <c:pt idx="5">
                  <c:v>5986.9255</c:v>
                </c:pt>
                <c:pt idx="6">
                  <c:v>5994.7219</c:v>
                </c:pt>
                <c:pt idx="7">
                  <c:v>6014.9284</c:v>
                </c:pt>
                <c:pt idx="8">
                  <c:v>6035.4497</c:v>
                </c:pt>
                <c:pt idx="9">
                  <c:v>6047.9206</c:v>
                </c:pt>
                <c:pt idx="10">
                  <c:v>6042.4521</c:v>
                </c:pt>
                <c:pt idx="11">
                  <c:v>6048.5911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流通卡數 (萬張)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流通卡數市佔率排名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市佔率(%)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15.37</c:v>
                </c:pt>
                <c:pt idx="1">
                  <c:v>14.04</c:v>
                </c:pt>
                <c:pt idx="2">
                  <c:v>12.41</c:v>
                </c:pt>
                <c:pt idx="3">
                  <c:v>12.3</c:v>
                </c:pt>
                <c:pt idx="4">
                  <c:v>11.07</c:v>
                </c:pt>
                <c:pt idx="5">
                  <c:v>5.54</c:v>
                </c:pt>
                <c:pt idx="6">
                  <c:v>4.6</c:v>
                </c:pt>
                <c:pt idx="7">
                  <c:v>4.02</c:v>
                </c:pt>
                <c:pt idx="8">
                  <c:v>2.52</c:v>
                </c:pt>
                <c:pt idx="9">
                  <c:v>2.23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市佔率 (%)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title>
      <c:tx>
        <c:rich>
          <a:bodyPr/>
          <a:lstStyle/>
          <a:p>
            <a:r>
              <a:t>規模 vs 月增率</a:t>
            </a:r>
          </a:p>
        </c:rich>
      </c:tx>
      <c:layout/>
      <c:overlay val="0"/>
    </c:title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銀行</c:v>
                </c:pt>
              </c:strCache>
            </c:strRef>
          </c:tx>
          <c:spPr>
            <a:ln w="47625">
              <a:noFill/>
            </a:ln>
          </c:spPr>
          <c:xVal>
            <c:numRef>
              <c:f>Sheet1!$A$2:$A$11</c:f>
              <c:numCache>
                <c:formatCode>General</c:formatCode>
                <c:ptCount val="10"/>
                <c:pt idx="0">
                  <c:v>945.8</c:v>
                </c:pt>
                <c:pt idx="1">
                  <c:v>874.8</c:v>
                </c:pt>
                <c:pt idx="2">
                  <c:v>739.1</c:v>
                </c:pt>
                <c:pt idx="3">
                  <c:v>733.7</c:v>
                </c:pt>
                <c:pt idx="4">
                  <c:v>663.3</c:v>
                </c:pt>
                <c:pt idx="5">
                  <c:v>332.5</c:v>
                </c:pt>
                <c:pt idx="6">
                  <c:v>273.2</c:v>
                </c:pt>
                <c:pt idx="7">
                  <c:v>247.9</c:v>
                </c:pt>
                <c:pt idx="8">
                  <c:v>153.1</c:v>
                </c:pt>
                <c:pt idx="9">
                  <c:v>129.0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0.58</c:v>
                </c:pt>
                <c:pt idx="1">
                  <c:v>0.48</c:v>
                </c:pt>
                <c:pt idx="2">
                  <c:v>0.3</c:v>
                </c:pt>
                <c:pt idx="3">
                  <c:v>-0.56</c:v>
                </c:pt>
                <c:pt idx="4">
                  <c:v>-0.0</c:v>
                </c:pt>
                <c:pt idx="5">
                  <c:v>-0.94</c:v>
                </c:pt>
                <c:pt idx="6">
                  <c:v>0.27</c:v>
                </c:pt>
                <c:pt idx="7">
                  <c:v>0.42</c:v>
                </c:pt>
                <c:pt idx="8">
                  <c:v>0.15</c:v>
                </c:pt>
                <c:pt idx="9">
                  <c:v>-0.19</c:v>
                </c:pt>
              </c:numCache>
            </c:numRef>
          </c:yVal>
          <c:smooth val="0"/>
          <c:dLbls>
            <c:dLbl>
              <c:idx val="0"/>
              <c:dLblPos val="t"/>
              <c:tx>
                <c:rich>
                  <a:bodyPr/>
                  <a:lstStyle/>
                  <a:p>
                    <a:r>
                      <a:rPr lang="zh-TW" sz="1000"/>
                      <a:t>中國信託商業銀行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1"/>
              <c:dLblPos val="t"/>
              <c:tx>
                <c:rich>
                  <a:bodyPr/>
                  <a:lstStyle/>
                  <a:p>
                    <a:r>
                      <a:rPr lang="zh-TW" sz="1000"/>
                      <a:t>玉山商業銀行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2"/>
              <c:dLblPos val="t"/>
              <c:tx>
                <c:rich>
                  <a:bodyPr/>
                  <a:lstStyle/>
                  <a:p>
                    <a:r>
                      <a:rPr lang="zh-TW" sz="1000"/>
                      <a:t>台北富邦商業銀行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3"/>
              <c:dLblPos val="t"/>
              <c:tx>
                <c:rich>
                  <a:bodyPr/>
                  <a:lstStyle/>
                  <a:p>
                    <a:r>
                      <a:rPr lang="zh-TW" sz="1000"/>
                      <a:t>國泰世華商業銀行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4"/>
              <c:dLblPos val="t"/>
              <c:tx>
                <c:rich>
                  <a:bodyPr/>
                  <a:lstStyle/>
                  <a:p>
                    <a:r>
                      <a:rPr lang="zh-TW" sz="1000"/>
                      <a:t>台新國際商業銀行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5"/>
              <c:dLblPos val="t"/>
              <c:tx>
                <c:rich>
                  <a:bodyPr/>
                  <a:lstStyle/>
                  <a:p>
                    <a:r>
                      <a:rPr lang="zh-TW" sz="1000"/>
                      <a:t>星展(台灣)商業銀行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6"/>
              <c:dLblPos val="t"/>
              <c:tx>
                <c:rich>
                  <a:bodyPr/>
                  <a:lstStyle/>
                  <a:p>
                    <a:r>
                      <a:rPr lang="zh-TW" sz="1000"/>
                      <a:t>聯邦商業銀行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7"/>
              <c:dLblPos val="t"/>
              <c:tx>
                <c:rich>
                  <a:bodyPr/>
                  <a:lstStyle/>
                  <a:p>
                    <a:r>
                      <a:rPr lang="zh-TW" sz="1000"/>
                      <a:t>永豐商業銀行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8"/>
              <c:dLblPos val="t"/>
              <c:tx>
                <c:rich>
                  <a:bodyPr/>
                  <a:lstStyle/>
                  <a:p>
                    <a:r>
                      <a:rPr lang="zh-TW" sz="1000"/>
                      <a:t>第一商業銀行</a:t>
                    </a:r>
                  </a:p>
                </c:rich>
              </c:tx>
              <c:showVal val="0"/>
              <c:showCatName val="0"/>
              <c:showSerName val="0"/>
            </c:dLbl>
            <c:dLbl>
              <c:idx val="9"/>
              <c:dLblPos val="t"/>
              <c:tx>
                <c:rich>
                  <a:bodyPr/>
                  <a:lstStyle/>
                  <a:p>
                    <a:r>
                      <a:rPr lang="zh-TW" sz="1000"/>
                      <a:t>遠東國際商業銀行</a:t>
                    </a:r>
                  </a:p>
                </c:rich>
              </c:tx>
              <c:showVal val="0"/>
              <c:showCatName val="0"/>
              <c:showSerName val="0"/>
            </c:dLbl>
          </c:dLbls>
        </c:ser>
        <c:axId val="-2128940872"/>
        <c:axId val="-2129643912"/>
      </c:scatterChart>
      <c:valAx>
        <c:axId val="-212894087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t>流通卡數（萬張）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9643912"/>
        <c:crosses val="min"/>
        <c:crossBetween val="midCat"/>
      </c:valAx>
      <c:valAx>
        <c:axId val="-2129643912"/>
        <c:scaling>
          <c:orientation val="minMax"/>
        </c:scaling>
        <c:delete val="0"/>
        <c:axPos val="l"/>
        <c:majorGridlines/>
        <c:title>
          <c:tx>
            <c:rich>
              <a:bodyPr/>
              <a:lstStyle/>
              <a:p>
                <a:r>
                  <a:t>月增率（%）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crossAx val="-2128940872"/>
        <c:crosses val="min"/>
        <c:crossBetween val="midCat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當月簽帳金額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當月簽帳金額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國泰世華商業銀行</c:v>
                </c:pt>
                <c:pt idx="2">
                  <c:v>台北富邦商業銀行</c:v>
                </c:pt>
                <c:pt idx="3">
                  <c:v>玉山商業銀行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永豐商業銀行</c:v>
                </c:pt>
                <c:pt idx="7">
                  <c:v>聯邦商業銀行</c:v>
                </c:pt>
                <c:pt idx="8">
                  <c:v>滙豐(台灣)商業銀行</c:v>
                </c:pt>
                <c:pt idx="9">
                  <c:v>第一商業銀行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83917586.0</c:v>
                </c:pt>
                <c:pt idx="1">
                  <c:v>81878315.0</c:v>
                </c:pt>
                <c:pt idx="2">
                  <c:v>58873591.0</c:v>
                </c:pt>
                <c:pt idx="3">
                  <c:v>54299671.0</c:v>
                </c:pt>
                <c:pt idx="4">
                  <c:v>48399932.0</c:v>
                </c:pt>
                <c:pt idx="5">
                  <c:v>23990920.0</c:v>
                </c:pt>
                <c:pt idx="6">
                  <c:v>15837909.0</c:v>
                </c:pt>
                <c:pt idx="7">
                  <c:v>15000911.0</c:v>
                </c:pt>
                <c:pt idx="8">
                  <c:v>11715342.0</c:v>
                </c:pt>
                <c:pt idx="9">
                  <c:v>7583238.0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簽帳金額 (千元)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流通卡數 TOP10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流通卡數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Sheet1!$A$2:$A$11</c:f>
              <c:strCache>
                <c:ptCount val="10"/>
                <c:pt idx="0">
                  <c:v>中國信託商業銀行</c:v>
                </c:pt>
                <c:pt idx="1">
                  <c:v>玉山商業銀行</c:v>
                </c:pt>
                <c:pt idx="2">
                  <c:v>台北富邦商業銀行</c:v>
                </c:pt>
                <c:pt idx="3">
                  <c:v>國泰世華商業銀行</c:v>
                </c:pt>
                <c:pt idx="4">
                  <c:v>台新國際商業銀行</c:v>
                </c:pt>
                <c:pt idx="5">
                  <c:v>星展(台灣)商業銀行</c:v>
                </c:pt>
                <c:pt idx="6">
                  <c:v>聯邦商業銀行</c:v>
                </c:pt>
                <c:pt idx="7">
                  <c:v>永豐商業銀行</c:v>
                </c:pt>
                <c:pt idx="8">
                  <c:v>第一商業銀行</c:v>
                </c:pt>
                <c:pt idx="9">
                  <c:v>遠東國際商業銀行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9458117.0</c:v>
                </c:pt>
                <c:pt idx="1">
                  <c:v>8748065.0</c:v>
                </c:pt>
                <c:pt idx="2">
                  <c:v>7391132.0</c:v>
                </c:pt>
                <c:pt idx="3">
                  <c:v>7337214.0</c:v>
                </c:pt>
                <c:pt idx="4">
                  <c:v>6632949.0</c:v>
                </c:pt>
                <c:pt idx="5">
                  <c:v>3324547.0</c:v>
                </c:pt>
                <c:pt idx="6">
                  <c:v>2731780.0</c:v>
                </c:pt>
                <c:pt idx="7">
                  <c:v>2478579.0</c:v>
                </c:pt>
                <c:pt idx="8">
                  <c:v>1531235.0</c:v>
                </c:pt>
                <c:pt idx="9">
                  <c:v>1290052.0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流通卡數 (張)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簽帳金額 TOP5 近 6 月趨勢（百萬元）</a:t>
            </a:r>
          </a:p>
        </c:rich>
      </c:tx>
      <c:layout/>
      <c:overlay val="0"/>
    </c:title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中國信託商業銀行</c:v>
                </c:pt>
              </c:strCache>
            </c:strRef>
          </c:tx>
          <c:spPr>
            <a:solidFill>
              <a:srgbClr val="003366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125976.593</c:v>
                </c:pt>
                <c:pt idx="1">
                  <c:v>66950.018</c:v>
                </c:pt>
                <c:pt idx="2">
                  <c:v>73733.664</c:v>
                </c:pt>
                <c:pt idx="3">
                  <c:v>80096.712</c:v>
                </c:pt>
                <c:pt idx="4">
                  <c:v>72454.17</c:v>
                </c:pt>
                <c:pt idx="5">
                  <c:v>83917.586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國泰世華商業銀行</c:v>
                </c:pt>
              </c:strCache>
            </c:strRef>
          </c:tx>
          <c:spPr>
            <a:solidFill>
              <a:srgbClr val="0066CC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101706.31</c:v>
                </c:pt>
                <c:pt idx="1">
                  <c:v>65055.781</c:v>
                </c:pt>
                <c:pt idx="2">
                  <c:v>71463.253</c:v>
                </c:pt>
                <c:pt idx="3">
                  <c:v>79077.303</c:v>
                </c:pt>
                <c:pt idx="4">
                  <c:v>69309.873</c:v>
                </c:pt>
                <c:pt idx="5">
                  <c:v>81878.315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台北富邦商業銀行</c:v>
                </c:pt>
              </c:strCache>
            </c:strRef>
          </c:tx>
          <c:spPr>
            <a:solidFill>
              <a:srgbClr val="FF6600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70997.069</c:v>
                </c:pt>
                <c:pt idx="1">
                  <c:v>47355.858</c:v>
                </c:pt>
                <c:pt idx="2">
                  <c:v>48349.084</c:v>
                </c:pt>
                <c:pt idx="3">
                  <c:v>56553.764</c:v>
                </c:pt>
                <c:pt idx="4">
                  <c:v>51145.814</c:v>
                </c:pt>
                <c:pt idx="5">
                  <c:v>58873.591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玉山商業銀行</c:v>
                </c:pt>
              </c:strCache>
            </c:strRef>
          </c:tx>
          <c:spPr>
            <a:solidFill>
              <a:srgbClr val="339933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121150.605</c:v>
                </c:pt>
                <c:pt idx="1">
                  <c:v>47848.33</c:v>
                </c:pt>
                <c:pt idx="2">
                  <c:v>51251.681</c:v>
                </c:pt>
                <c:pt idx="3">
                  <c:v>63826.907</c:v>
                </c:pt>
                <c:pt idx="4">
                  <c:v>48431.125</c:v>
                </c:pt>
                <c:pt idx="5">
                  <c:v>54299.671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台新國際商業銀行</c:v>
                </c:pt>
              </c:strCache>
            </c:strRef>
          </c:tx>
          <c:spPr>
            <a:solidFill>
              <a:srgbClr val="CC3333"/>
            </a:solidFill>
          </c:spPr>
          <c:cat>
            <c:strRef>
              <c:f>Sheet1!$A$2:$A$7</c:f>
              <c:strCache>
                <c:ptCount val="6"/>
                <c:pt idx="0">
                  <c:v>07月</c:v>
                </c:pt>
                <c:pt idx="1">
                  <c:v>08月</c:v>
                </c:pt>
                <c:pt idx="2">
                  <c:v>09月</c:v>
                </c:pt>
                <c:pt idx="3">
                  <c:v>10月</c:v>
                </c:pt>
                <c:pt idx="4">
                  <c:v>11月</c:v>
                </c:pt>
                <c:pt idx="5">
                  <c:v>12月</c:v>
                </c:pt>
              </c:strCache>
            </c:strRef>
          </c:cat>
          <c:val>
            <c:numRef>
              <c:f>Sheet1!$F$2:$F$7</c:f>
              <c:numCache>
                <c:formatCode>General</c:formatCode>
                <c:ptCount val="6"/>
                <c:pt idx="0">
                  <c:v>63003.868</c:v>
                </c:pt>
                <c:pt idx="1">
                  <c:v>39021.829</c:v>
                </c:pt>
                <c:pt idx="2">
                  <c:v>43935.514</c:v>
                </c:pt>
                <c:pt idx="3">
                  <c:v>48769.248</c:v>
                </c:pt>
                <c:pt idx="4">
                  <c:v>43360.054</c:v>
                </c:pt>
                <c:pt idx="5">
                  <c:v>48399.932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t>簽帳金額 (百萬元)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preserve="1">
  <p:cSld name="標題投影片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026A16C4-3BD0-72DB-C8B5-239F03494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14" name="Google Shape;14;p7"/>
          <p:cNvSpPr txBox="1">
            <a:spLocks noGrp="1"/>
          </p:cNvSpPr>
          <p:nvPr>
            <p:ph type="title"/>
          </p:nvPr>
        </p:nvSpPr>
        <p:spPr>
          <a:xfrm>
            <a:off x="1114515" y="1278736"/>
            <a:ext cx="9962700" cy="7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3000"/>
              <a:buNone/>
              <a:defRPr sz="30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body" idx="1"/>
          </p:nvPr>
        </p:nvSpPr>
        <p:spPr>
          <a:xfrm>
            <a:off x="1114350" y="2394796"/>
            <a:ext cx="9963300" cy="308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E171B"/>
              </a:buClr>
              <a:buSzPts val="2400"/>
              <a:buChar char="●"/>
              <a:defRPr i="0">
                <a:solidFill>
                  <a:srgbClr val="4F4F4F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Char char="●"/>
              <a:defRPr i="0">
                <a:solidFill>
                  <a:srgbClr val="4F4F4F"/>
                </a:solidFill>
              </a:defRPr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Char char="■"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800"/>
              <a:buNone/>
              <a:defRPr b="1"/>
            </a:lvl4pPr>
            <a:lvl5pPr marL="2286000" lvl="4" indent="-3238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500"/>
              <a:buChar char="•"/>
              <a:defRPr sz="1500" b="1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400"/>
              <a:buChar char="•"/>
              <a:defRPr sz="1400" b="1">
                <a:solidFill>
                  <a:srgbClr val="464444"/>
                </a:solidFill>
              </a:defRPr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200"/>
              <a:buChar char="•"/>
              <a:defRPr sz="1200" b="1">
                <a:solidFill>
                  <a:srgbClr val="464444"/>
                </a:solidFill>
              </a:defRPr>
            </a:lvl7pPr>
            <a:lvl8pPr marL="3657600" lvl="7" indent="-2921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1000"/>
              <a:buChar char="•"/>
              <a:defRPr sz="1000" b="1">
                <a:solidFill>
                  <a:srgbClr val="464444"/>
                </a:solidFill>
              </a:defRPr>
            </a:lvl8pPr>
            <a:lvl9pPr marL="4114800" lvl="8" indent="-279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BE171B"/>
              </a:buClr>
              <a:buSzPts val="800"/>
              <a:buChar char="•"/>
              <a:defRPr sz="800" b="1">
                <a:solidFill>
                  <a:srgbClr val="464444"/>
                </a:solidFill>
              </a:defRPr>
            </a:lvl9pPr>
          </a:lstStyle>
          <a:p>
            <a:endParaRPr/>
          </a:p>
        </p:txBody>
      </p:sp>
      <p:cxnSp>
        <p:nvCxnSpPr>
          <p:cNvPr id="16" name="Google Shape;16;p7"/>
          <p:cNvCxnSpPr/>
          <p:nvPr/>
        </p:nvCxnSpPr>
        <p:spPr>
          <a:xfrm>
            <a:off x="1114515" y="2056042"/>
            <a:ext cx="9962700" cy="0"/>
          </a:xfrm>
          <a:prstGeom prst="straightConnector1">
            <a:avLst/>
          </a:prstGeom>
          <a:noFill/>
          <a:ln w="19050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7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204880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標題投影片" preserve="1">
  <p:cSld name="2_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 的圖片&#10;&#10;AI 產生的內容可能不正確。">
            <a:extLst>
              <a:ext uri="{FF2B5EF4-FFF2-40B4-BE49-F238E27FC236}">
                <a16:creationId xmlns:a16="http://schemas.microsoft.com/office/drawing/2014/main" id="{E912A1DA-C32A-79BA-3D45-A52103A38D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19" name="Google Shape;19;p8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8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460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標題投影片" preserve="1">
  <p:cSld name="3_標題投影片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圖形, 設計 的圖片&#10;&#10;AI 產生的內容可能不正確。">
            <a:extLst>
              <a:ext uri="{FF2B5EF4-FFF2-40B4-BE49-F238E27FC236}">
                <a16:creationId xmlns:a16="http://schemas.microsoft.com/office/drawing/2014/main" id="{C649EEB2-B486-967D-A023-BE167D421E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pic>
        <p:nvPicPr>
          <p:cNvPr id="22" name="Google Shape;22;p9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600" y="5618832"/>
            <a:ext cx="2830550" cy="107705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9"/>
          <p:cNvSpPr txBox="1">
            <a:spLocks noGrp="1"/>
          </p:cNvSpPr>
          <p:nvPr>
            <p:ph type="title"/>
          </p:nvPr>
        </p:nvSpPr>
        <p:spPr>
          <a:xfrm>
            <a:off x="1114531" y="1640061"/>
            <a:ext cx="9962700" cy="214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4F4F"/>
              </a:buClr>
              <a:buSzPts val="4400"/>
              <a:buNone/>
              <a:defRPr sz="4400" i="0">
                <a:solidFill>
                  <a:srgbClr val="4F4F4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136617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標題及內容" preserve="1">
  <p:cSld name="1_標題及內容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368595" y="1247553"/>
            <a:ext cx="11242500" cy="488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CC181D"/>
              </a:buClr>
              <a:buSzPts val="2400"/>
              <a:buFont typeface="Noto Sans Symbols"/>
              <a:buChar char="■"/>
              <a:defRPr sz="2400" b="1"/>
            </a:lvl1pPr>
            <a:lvl2pPr marL="914400" lvl="1" indent="-3556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2000"/>
              <a:buFont typeface="Noto Sans Symbols"/>
              <a:buChar char="●"/>
              <a:defRPr sz="2000" b="1"/>
            </a:lvl2pPr>
            <a:lvl3pPr marL="1371600" lvl="2" indent="-330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600"/>
              <a:buFont typeface="Noto Sans Symbols"/>
              <a:buChar char="●"/>
              <a:defRPr sz="1600" b="1"/>
            </a:lvl3pPr>
            <a:lvl4pPr marL="1828800" lvl="3" indent="-3048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200"/>
              <a:buFont typeface="Arial"/>
              <a:buChar char="•"/>
              <a:defRPr sz="1200" b="1"/>
            </a:lvl4pPr>
            <a:lvl5pPr marL="2286000" lvl="4" indent="-314325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CC181D"/>
              </a:buClr>
              <a:buSzPts val="1350"/>
              <a:buFont typeface="Noto Sans Symbols"/>
              <a:buChar char="●"/>
              <a:defRPr sz="1350" b="1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349956" y="259072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b="0" i="0" u="none" strike="noStrike" cap="none">
                <a:solidFill>
                  <a:srgbClr val="656565"/>
                </a:solidFill>
                <a:latin typeface="Noto Sans"/>
                <a:ea typeface="Noto Sans"/>
                <a:cs typeface="Noto Sans"/>
                <a:sym typeface="Noto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28" name="Google Shape;28;p10"/>
          <p:cNvSpPr txBox="1"/>
          <p:nvPr/>
        </p:nvSpPr>
        <p:spPr>
          <a:xfrm>
            <a:off x="-2146501" y="-1235899"/>
            <a:ext cx="11261019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Noto Sans"/>
              <a:buNone/>
            </a:pPr>
            <a:endParaRPr sz="3000" b="1" i="0" u="none" strike="noStrike" cap="none">
              <a:solidFill>
                <a:srgbClr val="464444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pic>
        <p:nvPicPr>
          <p:cNvPr id="29" name="Google Shape;29;p10" title="標語_中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311550" y="6534225"/>
            <a:ext cx="1071550" cy="128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10" title="金控_中_彩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248175"/>
            <a:ext cx="1602775" cy="6098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"/>
          <p:cNvCxnSpPr/>
          <p:nvPr/>
        </p:nvCxnSpPr>
        <p:spPr>
          <a:xfrm>
            <a:off x="1597301" y="6445831"/>
            <a:ext cx="8341800" cy="0"/>
          </a:xfrm>
          <a:prstGeom prst="straightConnector1">
            <a:avLst/>
          </a:prstGeom>
          <a:noFill/>
          <a:ln w="19050" cap="flat" cmpd="sng">
            <a:solidFill>
              <a:srgbClr val="D70C18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" name="Google Shape;32;p10"/>
          <p:cNvCxnSpPr/>
          <p:nvPr/>
        </p:nvCxnSpPr>
        <p:spPr>
          <a:xfrm rot="10800000">
            <a:off x="9939225" y="6445838"/>
            <a:ext cx="1446600" cy="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519643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章節標題" preserve="1">
  <p:cSld name="2_章節標題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設計 的圖片&#10;&#10;AI 產生的內容可能不正確。">
            <a:extLst>
              <a:ext uri="{FF2B5EF4-FFF2-40B4-BE49-F238E27FC236}">
                <a16:creationId xmlns:a16="http://schemas.microsoft.com/office/drawing/2014/main" id="{3B5AF3D8-B199-5417-755A-9D51D04F6E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7" y="0"/>
            <a:ext cx="12187066" cy="6858000"/>
          </a:xfrm>
          <a:prstGeom prst="rect">
            <a:avLst/>
          </a:prstGeom>
        </p:spPr>
      </p:pic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831851" y="4128475"/>
            <a:ext cx="10515600" cy="160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4800"/>
              <a:buNone/>
              <a:defRPr sz="4800" i="0">
                <a:solidFill>
                  <a:srgbClr val="464444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/>
            </a:lvl9pPr>
          </a:lstStyle>
          <a:p>
            <a:endParaRPr/>
          </a:p>
        </p:txBody>
      </p:sp>
      <p:pic>
        <p:nvPicPr>
          <p:cNvPr id="35" name="Google Shape;35;p11" title="金控_中_白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08100" y="688548"/>
            <a:ext cx="5575550" cy="21215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74860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D00B95-F112-B8B7-381C-1E417E4AB9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BE2AAC-90E4-D32C-C2EC-A159487F5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8B5046B-CF36-90D5-96AF-C53DBA745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BF5755-7018-4945-A46B-2B4DE79FC767}" type="datetimeFigureOut">
              <a:rPr kumimoji="1" lang="zh-TW" altLang="en-US" smtClean="0"/>
              <a:t>2026/5/26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C4874EB-7423-DBD2-1C7B-424E851D8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530B08D-6B26-34AE-92D0-8D2AB1E7F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07DD83-9373-1C49-B3EB-CD40710A3CC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626679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body" idx="1"/>
          </p:nvPr>
        </p:nvSpPr>
        <p:spPr>
          <a:xfrm>
            <a:off x="519290" y="1176425"/>
            <a:ext cx="11091600" cy="50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F0000"/>
              </a:buClr>
              <a:buSzPts val="2400"/>
              <a:buFont typeface="Microsoft JhengHei"/>
              <a:buChar char="■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2000"/>
              <a:buFont typeface="Microsoft JhengHei"/>
              <a:buChar char="■"/>
              <a:defRPr sz="2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EF0000"/>
              </a:buClr>
              <a:buSzPts val="1600"/>
              <a:buFont typeface="Microsoft JhengHei"/>
              <a:buChar char="■"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1600"/>
              <a:buFont typeface="Microsoft JhengHei"/>
              <a:buNone/>
              <a:defRPr sz="16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2286000" marR="0" lvl="4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464444"/>
              </a:buClr>
              <a:buSzPts val="2400"/>
              <a:buFont typeface="Microsoft JhengHei"/>
              <a:buChar char="•"/>
              <a:defRPr sz="24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Microsoft JhengHei"/>
              <a:buChar char="•"/>
              <a:defRPr sz="1800" b="1" i="0" u="none" strike="noStrike" cap="none">
                <a:solidFill>
                  <a:schemeClr val="dk1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19290" y="259072"/>
            <a:ext cx="11091685" cy="7598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64444"/>
              </a:buClr>
              <a:buSzPts val="3000"/>
              <a:buFont typeface="Microsoft JhengHei"/>
              <a:buNone/>
              <a:defRPr sz="3000" b="1" i="0" u="none" strike="noStrike" cap="none">
                <a:solidFill>
                  <a:srgbClr val="464444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icrosoft JhengHei"/>
              <a:buNone/>
              <a:defRPr sz="1800" i="0" u="none" strike="noStrike" cap="none">
                <a:solidFill>
                  <a:srgbClr val="000000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sldNum" idx="12"/>
          </p:nvPr>
        </p:nvSpPr>
        <p:spPr>
          <a:xfrm flipH="1">
            <a:off x="11397425" y="6394525"/>
            <a:ext cx="651300" cy="32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sz="1100" i="0" u="none" strike="noStrike" cap="none">
                <a:solidFill>
                  <a:srgbClr val="7F7F7F"/>
                </a:solidFill>
                <a:latin typeface="Microsoft JhengHei"/>
                <a:ea typeface="Microsoft JhengHei"/>
                <a:cs typeface="Microsoft JhengHei"/>
                <a:sym typeface="Microsoft JhengHe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255801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6000" y="1440000"/>
            <a:ext cx="99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66"/>
                </a:solidFill>
              </a:defRPr>
            </a:pPr>
            <a:r>
              <a:t>銀行信用卡市場分析與經營洞察簡報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00" y="25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114 年 1-12 月信用卡業務數據深度解析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6000" y="3420000"/>
            <a:ext cx="9972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0066CC"/>
                </a:solidFill>
              </a:defRPr>
            </a:pPr>
            <a:r>
              <a:t>台新國際商業銀行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目錄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162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01  市場整體概況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234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02  同業競爭分析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06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03  客戶活躍度與獲利能力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378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04  風險與警訊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4500000"/>
            <a:ext cx="90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3366"/>
                </a:solidFill>
              </a:defRPr>
            </a:pPr>
            <a:r>
              <a:t>CHAPTER 05  對台新的策略建議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市場關鍵指標摘要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市場流通卡數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0000" y="1764000"/>
            <a:ext cx="27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6049 萬張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68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台新流通卡數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68000" y="1764000"/>
            <a:ext cx="27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663 萬張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76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台新市佔率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76000" y="1764000"/>
            <a:ext cx="27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11.1%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4000" y="1440000"/>
            <a:ext cx="270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66666"/>
                </a:solidFill>
              </a:defRPr>
            </a:pPr>
            <a:r>
              <a:t>台新當月簽帳金額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84000" y="1764000"/>
            <a:ext cx="2700000" cy="46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66"/>
                </a:solidFill>
              </a:defRPr>
            </a:pPr>
            <a:r>
              <a:t>48400 百萬元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01 市場整體概況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市場規模趨勢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市場卡數與簽帳金額走勢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市占率排名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各銀行流通卡數市占率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02 同業競爭分析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規模 vs 成長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規模與成長象限分析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有效卡率比較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各銀行簽帳金額比較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03 客戶活躍度與獲利能力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每卡簽帳金額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各銀行流通卡數比較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循環信用與分期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簽帳金額逐月變化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0000" y="1620000"/>
          <a:ext cx="10800000" cy="360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800" b="1">
                <a:solidFill>
                  <a:srgbClr val="003366"/>
                </a:solidFill>
              </a:defRPr>
            </a:pPr>
            <a:r>
              <a:t>Chapter 04 風險與警訊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風險指標比較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風險指標總覽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0000" y="1620000"/>
          <a:ext cx="108000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0000"/>
                <a:gridCol w="2700000"/>
                <a:gridCol w="2700000"/>
                <a:gridCol w="27000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銀行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流通卡數(萬張)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簽帳金額(百萬元)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市佔率(%)</a:t>
                      </a:r>
                    </a:p>
                  </a:txBody>
                  <a:tcPr anchor="ctr">
                    <a:solidFill>
                      <a:srgbClr val="003366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FFFFFF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中國信託商業銀行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945.8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83918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15.37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玉山商業銀行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874.8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54300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14.04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台北富邦商業銀行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739.1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58874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12.41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國泰世華商業銀行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733.7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81878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12.30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台新國際商業銀行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663.3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48400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11.07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星展(台灣)商業銀行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332.5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23991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5.54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聯邦商業銀行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273.2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15001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4.60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永豐商業銀行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247.9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15838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4.02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第一商業銀行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153.1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7583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2.52</a:t>
                      </a:r>
                    </a:p>
                  </a:txBody>
                  <a:tcPr anchor="ctr">
                    <a:solidFill>
                      <a:srgbClr val="E8F0F8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遠東國際商業銀行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129.0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4517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333333"/>
                          </a:solidFill>
                        </a:defRPr>
                      </a:pPr>
                      <a:r>
                        <a:t>2.23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6350">
                      <a:solidFill>
                        <a:srgbClr val="CCCCCC"/>
                      </a:solidFill>
                    </a:lnL>
                    <a:lnR w="6350">
                      <a:solidFill>
                        <a:srgbClr val="CCCCCC"/>
                      </a:solidFill>
                    </a:lnR>
                    <a:lnT w="6350">
                      <a:solidFill>
                        <a:srgbClr val="CCCCCC"/>
                      </a:solidFill>
                    </a:lnT>
                    <a:lnB w="6350">
                      <a:solidFill>
                        <a:srgbClr val="CCCCCC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sz="2200" b="1">
                <a:solidFill>
                  <a:srgbClr val="003366"/>
                </a:solidFill>
              </a:defRPr>
            </a:pPr>
            <a:r>
              <a:t>Chapter 05 台新策略建議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12000" y="6408000"/>
            <a:ext cx="648000" cy="32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999999"/>
                </a:solidFill>
              </a:defRPr>
            </a:pPr>
            <a: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044000"/>
            <a:ext cx="11232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◆ 台新信用卡業務策略建議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144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40000" y="144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提升有效卡率至 75% 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40000" y="176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根據流通卡數與簽帳金額比較，台新有提升空間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252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0000" y="252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拓展高消費力客群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284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提升每卡簽帳金額以追趕同業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3600000"/>
            <a:ext cx="72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66CC"/>
                </a:solidFill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40000" y="3600000"/>
            <a:ext cx="97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3366"/>
                </a:solidFill>
              </a:defRPr>
            </a:pPr>
            <a:r>
              <a:t>優化分期產品組合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3924000"/>
            <a:ext cx="97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把握分期消費趨勢，增加中間業務收入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6000" y="1800000"/>
            <a:ext cx="9972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003366"/>
                </a:solidFill>
              </a:defRPr>
            </a:pPr>
            <a:r>
              <a:t>感謝聆聽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6000" y="3060000"/>
            <a:ext cx="9972000" cy="7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333333"/>
                </a:solidFill>
              </a:defRPr>
            </a:pPr>
            <a:r>
              <a:t>台新國際商業銀行 — 信用卡市場分析與經營洞察</a:t>
            </a:r>
          </a:p>
          <a:p>
            <a:pPr algn="ctr">
              <a:defRPr sz="1100">
                <a:solidFill>
                  <a:srgbClr val="666666"/>
                </a:solidFill>
              </a:defRPr>
            </a:pPr>
            <a:r>
              <a:t>資料來源：各金融機構信用卡重要資訊揭露（114年1-12月）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</Words>
  <Application>Microsoft Office PowerPoint</Application>
  <PresentationFormat>寬螢幕</PresentationFormat>
  <Paragraphs>2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Noto Sans Symbols</vt:lpstr>
      <vt:lpstr>Microsoft JhengHei</vt:lpstr>
      <vt:lpstr>Arial</vt:lpstr>
      <vt:lpstr>Noto Sans</vt:lpstr>
      <vt:lpstr>1_Office 佈景主題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蕭宇喬</dc:creator>
  <cp:lastModifiedBy>蕭宇喬</cp:lastModifiedBy>
  <cp:revision>2</cp:revision>
  <dcterms:created xsi:type="dcterms:W3CDTF">2026-05-26T08:53:52Z</dcterms:created>
  <dcterms:modified xsi:type="dcterms:W3CDTF">2026-05-26T08:55:08Z</dcterms:modified>
</cp:coreProperties>
</file>